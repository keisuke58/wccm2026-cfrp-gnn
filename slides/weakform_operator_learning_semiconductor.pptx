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685800"/>
            <a:ext cx="3200400" cy="32004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WCCM–ECCOMAS 2026  ·  CONCEPT STUDY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FEM Operator Learning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Online Adaptation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device simulation (GAA / CFET / TSV)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as the authority on accuracy · networks &amp; continuation as accelerators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self-contained, seed-fixed concept demos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〈氏名・所属〉   ·   github: keisuke58/wccm2026-cfrp-gnn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Poisson solve is the TCAD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TCAD self-consistently couples Poisson ↔ drift-diffusion (Gummel / Newton).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innermost, most-repeated step is the Poisson (nonlinear Poisson) solve.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GAA/CFET meshes this is re-solved thousands of times per bias &amp; per design.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accelerate it with machine learning — without giving up FE accuracy.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9202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 −∇·(ε∇φ) = ρ(φ)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0" y="32918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1C9AA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918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Drift-diffusion  (n, p currents)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201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278892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058400" y="329184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self-consistent loop  (repeat to convergence)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FIELD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for device simulation — and the open 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92224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/ SPICE models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2628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82512" y="1792224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4944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grid-Poisson surrogates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19556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coupled systems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2628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diffusion on meshes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19556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DeepONet / FNO operators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638251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4944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convergence acceleration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19556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28016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transport (Otsuki &amp; Mori)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2628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+ FD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638251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41" name="Text 39"/>
          <p:cNvSpPr/>
          <p:nvPr/>
        </p:nvSpPr>
        <p:spPr>
          <a:xfrm>
            <a:off x="638251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94944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design / online learning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019556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Surrogates ②–④ are overwhelmingly strong-form / grid-based → the weak-form (FEM) operator lane is open.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weak form (FEM) at the core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(finite differences / PINN) enforces the PDE pointwise — and </a:t>
            </a:r>
            <a:pPr indent="0" marL="0">
              <a:buNone/>
            </a:pPr>
            <a:r>
              <a:rPr lang="en-US" sz="17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flux continuity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[ε ∂φ/∂n] = 0 at material interfaces (variable ε).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Galerkin form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interface flux-continuity into the assembled residual — naturally robust to variable ε and unstructured meshes.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023360"/>
            <a:ext cx="512064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C041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(pointwise)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Δφ + ρ/ε   at nodes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not guaranteed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402336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(Galerkin FE)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4572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K(ε)φ + κ·M·sinh(φ) − Mρ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built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components: A · D · B · 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2024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loss / data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loss = assembled FE residual K(ε)φ−Mρ (Galerkin), not a pointwise Laplacian.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10312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58952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 a-posteriori error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residual estimator unifies mesh refinement and the online-learning trigger.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0624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92024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learning branch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DeepONet branch ingests mesh &amp; conditions (mesh-agnostic, repo-native).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0936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20624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952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= accelerator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stays the accuracy authority; the net only warm-starts Newton / continuation.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Method-level, not application-level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Otsuki &amp; Mori (baseline)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Monte-Carlo transport for GAA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inside the MC loop replaced by a PI-DeepONet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Discretization core: strong-form finite differences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 accelerates the MC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Weak-form (Galerkin FE) at the operator core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Interface-robust residual K(ε)φ−Mρ as the physics loss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drives refinement + online trigger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keeps accuracy; net / continuation only accelerate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receptive frame ("ML accelerates TCAD"); the discretization core differs — demo ② quantifies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② — THE ONE-PANEL NOVELTY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vs strong form (no NN involved)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bench_weak_vs_stro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bench_weak_vs_strong.py — FE vs FD, refinement + interface study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discretization test at a material interface (variable ε).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converges at O(h²); strong form stalls at an interface-error floor.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quantitative backbone for "why weak form".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O(h²)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weak: 0.13 → 0.0093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floor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① — OPERATOR LEARNING + ONLINE ADAPTATION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PI-DeepONet with an FE error trigger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pi_deeponet_fem_ga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pi_deeponet_fem_gaa.py — rel-L2 0.074 at unchanged FE accuracy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GNN-branch DeepONet trained on the Galerkin residual (idea A+B).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triggers an exact solve only when needed (idea D).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adaptation lowers the trigger rate as deployment proceeds.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60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exact solves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57%→23%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rate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③ ④ ⑤ — IDEA C, NEWTON WARM-START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warm-start: 1D → 2D GAA → CFET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cfet_stack_warm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cfet_stack_warmstart.py (n/p stack) — cf. fe_/dd2d_ warm-start demos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773936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9"/>
          <p:cNvSpPr/>
          <p:nvPr/>
        </p:nvSpPr>
        <p:spPr>
          <a:xfrm>
            <a:off x="1773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initial guess seeds damped Newton; every solve stays exact FE.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nonlinear Poisson → 2D GAA slice → multi-material CFET cross-section.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guarantees accuracy; the net only cuts iterations.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Newton iters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8" name="Text 15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4.8→3.0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cold→warm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⑧ ⑨ — FULL DRIFT-DIFFUSION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Coupled DD: ideal diode &amp; continuation at high bias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dd_breakdown_continu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dd_breakdown_continuation.py — impact ionization kept mild (~×2.1)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pn junction, Scharfetter–Gummel + Gummel (⑧): ideal-diode I–V validated.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reverse bias (⑨): cold start diverges at 4 V_t; continuation reaches 45 V_t.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idea C is not "faster" — it decides convergence vs divergence.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V_t → 45 V_t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diverges → continues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J∝e^{V/Vt}−1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diode validated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⑥ ⑦ — TSV THERMO-MECHANICAL STRESS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3D-stack packaging: FE thermoelasticity + KOZ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tsv_3d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tsv_3d_stress.py — bridges to the repo's CFRP stress × GNN core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(⑥): CNN stress-field surrogate + keep-out-zone from FE thermoelasticity.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(⑦): real elastic constants — anisotropic Si (C11/C12/C44) vs isotropic Cu.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Anisotropy gives 4-fold (cloverleaf) stress → direction-dependent KOZ.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IoU 0.819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keep-out zone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analytic PASS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machine precision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⑩ ⑪ — REAL MULTI-MATERIAL TCAD WORKLOAD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sweep amortized, then made a learned operator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gaa_operator_deepon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gaa_operator_deeponet.py — normalization uses train materials only (no leak)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Balaji+2026 (Sentaurus): Si/Ge/GeSn/InGaAs/MoS₂ × bias, cylindrical GAA.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continuation amortizes 45 self-consistent FE solves (217→161 Newton iters).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DeepONet: 1-shot on an unseen material, then warm-starts FE (A+B+C unified).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rel-L2 0.015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unseen material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5.2→2.8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warm-start iters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⑫ — WFM TUNES THE THRESHOLD VOLTAGE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Work-function metal → Vth on the GAA cross-section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gaa_wfm_v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gaa_wfm_vth.py — ideal flat-band model (no traps/poly-depletion), illustrative scale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pilot-line WFM step (Applied Endura-3 class) to a computed threshold.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WFM (Φ_m 4.2–5.0 eV): FE Q–V_g solves on the disk → extract Vth per metal.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the ideal flat-band law ΔVth = ΔΦ_WFM on the real cross-section.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 V/eV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ΔVth / ΔΦ_WFM (slope)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0.04→0.84 V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Vth design window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FAB TO SIMULATION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Pilot-line process ↔ what we simulate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 advanced-semiconductor pilot line (GAA nanosheet)   →   this work's demos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nanosheet channel — SiGe release (Certas)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49240" y="22677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760720" y="18745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18745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 nonlinear Poisson  ①③④⑩⑪⑫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889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High-k + WFM gate (Eagle-XP4 / Endura-3)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31821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60720" y="27889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7889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variable-ε interface · WFM→Vth  ②⑫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 → Ge / GeSn channels (EpiPrime)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49240" y="40965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760720" y="37033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37033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multi-material sweep  ⑩⑪ (Balaji+2026)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6177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/ 3D stack / TSV (next node)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50109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760720" y="46177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46177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slice ⑤ · TSV thermo-mech ⑥⑦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4663440" cy="786384"/>
          </a:xfrm>
          <a:prstGeom prst="roundRect">
            <a:avLst>
              <a:gd name="adj" fmla="val 8140"/>
            </a:avLst>
          </a:prstGeom>
          <a:solidFill>
            <a:srgbClr val="EEF3F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53212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× bias TCAD sweep (Sentaurus)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49240" y="592531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760720" y="5532120"/>
            <a:ext cx="5120640" cy="786384"/>
          </a:xfrm>
          <a:prstGeom prst="roundRect">
            <a:avLst>
              <a:gd name="adj" fmla="val 814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5532120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⑩ · learned operator ⑪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Post-5G “B” national project ↔ our demos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17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 / NEDO Post-5G · 先端半導体製造技術 (B)    —    ¥76.9 B budget · target 2030: ¥15 T domestic semiconductor sales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94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B-a1 前工程 · GAA nanosheet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/ SCREEN / Canon + AIST pilot 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2651760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6560" y="2194560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1945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 electrostatics  ①③④⑤⑩⑪⑫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55264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55264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B-b1/b2 後工程 · 3D packaging · WoW/CoW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 3DIC / RaaS / Sony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3712464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766560" y="3255264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325526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 thermo-mechanics  ⑥⑦  (+ CFRP×GNN)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15968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channel / interconnect · SiGe·Ge·2D, Cu→Ru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4773168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4315968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431596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multi-material sweep  ⑩⑪  (Balaji+2026)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76672"/>
            <a:ext cx="5669280" cy="914400"/>
          </a:xfrm>
          <a:prstGeom prst="roundRect">
            <a:avLst>
              <a:gd name="adj" fmla="val 7000"/>
            </a:avLst>
          </a:prstGeom>
          <a:solidFill>
            <a:srgbClr val="EEF3F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37667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B-d1 国際連携 · 2 nm logic (Rapidus)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5833872"/>
            <a:ext cx="914400" cy="914400"/>
          </a:xfrm>
          <a:prstGeom prst="line">
            <a:avLst/>
          </a:prstGeom>
          <a:noFill/>
          <a:ln w="31750">
            <a:solidFill>
              <a:srgbClr val="1C9A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5376672"/>
            <a:ext cx="4480560" cy="914400"/>
          </a:xfrm>
          <a:prstGeom prst="roundRect">
            <a:avLst>
              <a:gd name="adj" fmla="val 7000"/>
            </a:avLst>
          </a:prstGeom>
          <a:solidFill>
            <a:srgbClr val="E7F0F7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537667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device  (context)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— and is not — demonstrated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are concept demos (CPU, minutes, seed-fixed).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①'s error indicator is the raw relative Galerkin residual; the tolerance is calibrated, not a solution-error bound.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on robust monotone solves gives modest gains (~10–40%); the decisive case is ⑨ (converge vs diverge).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full DD (⑧⑨) is implemented; coupled 2D/3D semiconductor DD (Full Newton, needs variable scaling) is future work.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 unimplemented" refers to semiconductor DD only — 3D thermoelasticity (⑦) is implemented.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⑩⑪ screening κ is an illustrative non-dimensional scale (ordering &amp; trends are physical); ⑪'s disk is near radially symmetric.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axes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56816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7830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vertical-gate geometry + unstructured mesh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706624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5328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2D-CFET (2D-material channels)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456432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82696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avalanche (implicit G) &amp; 2D Full-Newton coupled DD (variable scaling)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206240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03250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 on asymmetric doping (trunk expressiveness) + GNN branch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956048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78231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η-driven h-refinement (AMR) with mesh-agnostic branch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705856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21" name="Text 19"/>
          <p:cNvSpPr/>
          <p:nvPr/>
        </p:nvSpPr>
        <p:spPr>
          <a:xfrm>
            <a:off x="1280160" y="553212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stress-field surrogate; KOZ classification in the CFRP-defect GNN pipeline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at the core makes the surrogate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interface-robust — FEM stays the authority,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&amp; continuation only accelerate.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form: O(h²) vs strong-form floor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5916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learning + FE-triggered online adaptation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3268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③–⑤,⑩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132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/ continuation: ~40% fewer iters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052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5916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decides converge vs diverge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93268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⑪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8132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operator: 1-shot on unseen material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51052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7" name="Text 25"/>
          <p:cNvSpPr/>
          <p:nvPr/>
        </p:nvSpPr>
        <p:spPr>
          <a:xfrm>
            <a:off x="651052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⑥⑦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5916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 thermo-mechanics → bridges to CFRP × GNN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2026-07-25T14:30:37Z</dcterms:created>
  <dcterms:modified xsi:type="dcterms:W3CDTF">2026-07-25T14:30:37Z</dcterms:modified>
</cp:coreProperties>
</file>