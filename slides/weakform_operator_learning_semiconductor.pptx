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463040"/>
            <a:ext cx="4754880" cy="4754880"/>
          </a:xfrm>
          <a:prstGeom prst="ellipse">
            <a:avLst/>
          </a:prstGeom>
          <a:solidFill>
            <a:srgbClr val="13355E"/>
          </a:solidFill>
          <a:ln w="12700">
            <a:solidFill>
              <a:srgbClr val="1C9AA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46920" y="-685800"/>
            <a:ext cx="3200400" cy="3200400"/>
          </a:xfrm>
          <a:prstGeom prst="ellipse">
            <a:avLst/>
          </a:prstGeom>
          <a:solidFill>
            <a:srgbClr val="0B1F3A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WCCM–ECCOMAS 2026  ·  CONCEPT STUDY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1874520"/>
            <a:ext cx="10332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Weak-form FEM Operator Learning</a:t>
            </a:r>
            <a:endParaRPr lang="en-US" sz="4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 Online Adaptation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22960" y="36118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semiconductor device simulation (GAA / CFET / TSV)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43434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FEM as the authority on accuracy · networks &amp; continuation as accelerators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self-contained, seed-fixed concept demos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〈氏名・所属〉   ·   github: keisuke58/wccm2026-cfrp-gnn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Poisson solve is the TCAD bottleneck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56692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TCAD self-consistently couples Poisson ↔ drift-diffusion (Gummel / Newton).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innermost, most-repeated step is the Poisson (nonlinear Poisson) solve.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GAA/CFET meshes this is re-solved thousands of times per bias &amp; per design.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accelerate it with machine learning — without giving up FE accuracy.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0" y="1920240"/>
            <a:ext cx="4297680" cy="868680"/>
          </a:xfrm>
          <a:prstGeom prst="roundRect">
            <a:avLst>
              <a:gd name="adj" fmla="val 8421"/>
            </a:avLst>
          </a:prstGeom>
          <a:solidFill>
            <a:srgbClr val="0E5A8A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0" y="1920240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Poisson  −∇·(ε∇φ) = ρ(φ)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0" y="3291840"/>
            <a:ext cx="4297680" cy="868680"/>
          </a:xfrm>
          <a:prstGeom prst="roundRect">
            <a:avLst>
              <a:gd name="adj" fmla="val 8421"/>
            </a:avLst>
          </a:prstGeom>
          <a:solidFill>
            <a:srgbClr val="1C9AA8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0" y="3291840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Drift-diffusion  (n, p currents)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201400" y="210312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bottleneck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955280" y="2788920"/>
            <a:ext cx="914400" cy="914400"/>
          </a:xfrm>
          <a:prstGeom prst="line">
            <a:avLst/>
          </a:prstGeom>
          <a:noFill/>
          <a:ln w="25400">
            <a:solidFill>
              <a:srgbClr val="6B7A8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0058400" y="3291840"/>
            <a:ext cx="914400" cy="914400"/>
          </a:xfrm>
          <a:prstGeom prst="line">
            <a:avLst/>
          </a:prstGeom>
          <a:noFill/>
          <a:ln w="25400">
            <a:solidFill>
              <a:srgbClr val="6B7A8F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6858000" y="43891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self-consistent loop  (repeat to convergence)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FIELD IS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ML for device simulation — and the open lane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EEF3F8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792224"/>
            <a:ext cx="457200" cy="457200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792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1737360"/>
            <a:ext cx="3429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 / SPICE models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526280" y="1737360"/>
            <a:ext cx="1417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309360" y="1737360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EEF3F8"/>
          </a:solidFill>
          <a:ln/>
        </p:spPr>
      </p:sp>
      <p:sp>
        <p:nvSpPr>
          <p:cNvPr id="10" name="Shape 8"/>
          <p:cNvSpPr/>
          <p:nvPr/>
        </p:nvSpPr>
        <p:spPr>
          <a:xfrm>
            <a:off x="6382512" y="1792224"/>
            <a:ext cx="457200" cy="457200"/>
          </a:xfrm>
          <a:prstGeom prst="ellipse">
            <a:avLst/>
          </a:prstGeom>
          <a:solidFill>
            <a:srgbClr val="C0413B"/>
          </a:solidFill>
          <a:ln/>
        </p:spPr>
      </p:sp>
      <p:sp>
        <p:nvSpPr>
          <p:cNvPr id="11" name="Text 9"/>
          <p:cNvSpPr/>
          <p:nvPr/>
        </p:nvSpPr>
        <p:spPr>
          <a:xfrm>
            <a:off x="6382512" y="1792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949440" y="1737360"/>
            <a:ext cx="3429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grid-Poisson surrogates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10195560" y="1737360"/>
            <a:ext cx="1417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strong-form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487168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EEF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542032"/>
            <a:ext cx="457200" cy="457200"/>
          </a:xfrm>
          <a:prstGeom prst="ellipse">
            <a:avLst/>
          </a:prstGeom>
          <a:solidFill>
            <a:srgbClr val="C0413B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" y="2542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280160" y="2487168"/>
            <a:ext cx="3429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PINN coupled systems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526280" y="2487168"/>
            <a:ext cx="1417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strong-form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309360" y="2487168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EEF3F8"/>
          </a:solidFill>
          <a:ln/>
        </p:spPr>
      </p:sp>
      <p:sp>
        <p:nvSpPr>
          <p:cNvPr id="20" name="Shape 18"/>
          <p:cNvSpPr/>
          <p:nvPr/>
        </p:nvSpPr>
        <p:spPr>
          <a:xfrm>
            <a:off x="6382512" y="2542032"/>
            <a:ext cx="457200" cy="457200"/>
          </a:xfrm>
          <a:prstGeom prst="ellipse">
            <a:avLst/>
          </a:prstGeom>
          <a:solidFill>
            <a:srgbClr val="C0413B"/>
          </a:solidFill>
          <a:ln/>
        </p:spPr>
      </p:sp>
      <p:sp>
        <p:nvSpPr>
          <p:cNvPr id="21" name="Text 19"/>
          <p:cNvSpPr/>
          <p:nvPr/>
        </p:nvSpPr>
        <p:spPr>
          <a:xfrm>
            <a:off x="6382512" y="2542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949440" y="2487168"/>
            <a:ext cx="3429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GNN / diffusion on meshes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0195560" y="2487168"/>
            <a:ext cx="1417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strong-form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3236976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EEF3F8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3291840"/>
            <a:ext cx="457200" cy="457200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26" name="Text 24"/>
          <p:cNvSpPr/>
          <p:nvPr/>
        </p:nvSpPr>
        <p:spPr>
          <a:xfrm>
            <a:off x="713232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280160" y="3236976"/>
            <a:ext cx="3429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DeepONet / FNO operators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4526280" y="3236976"/>
            <a:ext cx="1417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309360" y="3236976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EEF3F8"/>
          </a:solidFill>
          <a:ln/>
        </p:spPr>
      </p:sp>
      <p:sp>
        <p:nvSpPr>
          <p:cNvPr id="30" name="Shape 28"/>
          <p:cNvSpPr/>
          <p:nvPr/>
        </p:nvSpPr>
        <p:spPr>
          <a:xfrm>
            <a:off x="6382512" y="3291840"/>
            <a:ext cx="457200" cy="457200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31" name="Text 29"/>
          <p:cNvSpPr/>
          <p:nvPr/>
        </p:nvSpPr>
        <p:spPr>
          <a:xfrm>
            <a:off x="6382512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6949440" y="3236976"/>
            <a:ext cx="3429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Solver convergence acceleration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10195560" y="3236976"/>
            <a:ext cx="1417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warm-start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40080" y="3986784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EEF3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13232" y="4041648"/>
            <a:ext cx="457200" cy="457200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36" name="Text 34"/>
          <p:cNvSpPr/>
          <p:nvPr/>
        </p:nvSpPr>
        <p:spPr>
          <a:xfrm>
            <a:off x="713232" y="4041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280160" y="3986784"/>
            <a:ext cx="3429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 transport (Otsuki &amp; Mori)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4526280" y="3986784"/>
            <a:ext cx="1417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 + FD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309360" y="3986784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EEF3F8"/>
          </a:solidFill>
          <a:ln/>
        </p:spPr>
      </p:sp>
      <p:sp>
        <p:nvSpPr>
          <p:cNvPr id="40" name="Shape 38"/>
          <p:cNvSpPr/>
          <p:nvPr/>
        </p:nvSpPr>
        <p:spPr>
          <a:xfrm>
            <a:off x="6382512" y="4041648"/>
            <a:ext cx="457200" cy="457200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41" name="Text 39"/>
          <p:cNvSpPr/>
          <p:nvPr/>
        </p:nvSpPr>
        <p:spPr>
          <a:xfrm>
            <a:off x="6382512" y="4041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6949440" y="3986784"/>
            <a:ext cx="3429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Inverse design / online learning</a:t>
            </a:r>
            <a:endParaRPr lang="en-US" sz="1350" dirty="0"/>
          </a:p>
        </p:txBody>
      </p:sp>
      <p:sp>
        <p:nvSpPr>
          <p:cNvPr id="43" name="Text 41"/>
          <p:cNvSpPr/>
          <p:nvPr/>
        </p:nvSpPr>
        <p:spPr>
          <a:xfrm>
            <a:off x="10195560" y="3986784"/>
            <a:ext cx="1417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5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Surrogates ②–④ are overwhelmingly strong-form / grid-based → the weak-form (FEM) operator lane is open.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Put the weak form (FEM) at the core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form (finite differences / PINN) enforces the PDE pointwise — and </a:t>
            </a:r>
            <a:pPr indent="0" marL="0">
              <a:buNone/>
            </a:pPr>
            <a:r>
              <a:rPr lang="en-US" sz="1700" b="1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breaks flux continuity</a:t>
            </a:r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[ε ∂φ/∂n] = 0 at material interfaces (variable ε).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40080" y="28346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/ Galerkin form </a:t>
            </a:r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interface flux-continuity into the assembled residual — naturally robust to variable ε and unstructured meshes.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0080" y="4023360"/>
            <a:ext cx="5120640" cy="1554480"/>
          </a:xfrm>
          <a:prstGeom prst="roundRect">
            <a:avLst>
              <a:gd name="adj" fmla="val 5882"/>
            </a:avLst>
          </a:prstGeom>
          <a:solidFill>
            <a:srgbClr val="13355E"/>
          </a:solidFill>
          <a:ln w="12700">
            <a:solidFill>
              <a:srgbClr val="C041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160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4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form (pointwise)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45720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= Δφ + ρ/ε   at nodes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50749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flux continuity: not guaranteed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309360" y="4023360"/>
            <a:ext cx="5212080" cy="1554480"/>
          </a:xfrm>
          <a:prstGeom prst="roundRect">
            <a:avLst>
              <a:gd name="adj" fmla="val 5882"/>
            </a:avLst>
          </a:prstGeom>
          <a:solidFill>
            <a:srgbClr val="13355E"/>
          </a:solidFill>
          <a:ln w="12700">
            <a:solidFill>
              <a:srgbClr val="1C9A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4160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form (Galerkin FE)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92240" y="45720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= K(ε)φ + κ·M·sinh(φ) − Mρ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92240" y="50749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flux continuity: built in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components: A · D · B · C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/>
          <a:effectLst>
            <a:outerShdw sx="100000" sy="100000" kx="0" ky="0" algn="bl" rotWithShape="0" blurRad="63500" dist="25400" dir="5400000">
              <a:srgbClr val="AEBECC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03120"/>
            <a:ext cx="777240" cy="777240"/>
          </a:xfrm>
          <a:prstGeom prst="ellipse">
            <a:avLst/>
          </a:prstGeom>
          <a:solidFill>
            <a:srgbClr val="0E5A8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031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920240" y="205740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Weak-form loss / data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920240" y="2651760"/>
            <a:ext cx="3886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loss = assembled FE residual K(ε)φ−Mρ (Galerkin), not a pointwise Laplacian.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309360" y="178308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/>
          <a:effectLst>
            <a:outerShdw sx="100000" sy="100000" kx="0" ky="0" algn="bl" rotWithShape="0" blurRad="63500" dist="25400" dir="5400000">
              <a:srgbClr val="AEBECC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0" y="2103120"/>
            <a:ext cx="777240" cy="777240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0" y="21031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7589520" y="205740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 a-posteriori error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589520" y="2651760"/>
            <a:ext cx="3886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residual estimator unifies mesh refinement and the online-learning trigger.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388620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/>
          <a:effectLst>
            <a:outerShdw sx="100000" sy="100000" kx="0" ky="0" algn="bl" rotWithShape="0" blurRad="63500" dist="25400" dir="5400000">
              <a:srgbClr val="AEBECC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4206240"/>
            <a:ext cx="777240" cy="777240"/>
          </a:xfrm>
          <a:prstGeom prst="ellipse">
            <a:avLst/>
          </a:prstGeom>
          <a:solidFill>
            <a:srgbClr val="0E5A8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2062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1920240" y="416052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Operator learning branch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920240" y="4754880"/>
            <a:ext cx="3886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GNN / DeepONet branch ingests mesh &amp; conditions (mesh-agnostic, repo-native).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309360" y="388620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/>
          <a:effectLst>
            <a:outerShdw sx="100000" sy="100000" kx="0" ky="0" algn="bl" rotWithShape="0" blurRad="63500" dist="25400" dir="5400000">
              <a:srgbClr val="AEBECC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83680" y="4206240"/>
            <a:ext cx="777240" cy="777240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21" name="Text 19"/>
          <p:cNvSpPr/>
          <p:nvPr/>
        </p:nvSpPr>
        <p:spPr>
          <a:xfrm>
            <a:off x="6583680" y="42062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589520" y="416052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 = accelerator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589520" y="4754880"/>
            <a:ext cx="3886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FEM stays the accuracy authority; the net only warm-starts Newton / continuation.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Method-level, not application-level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212080" cy="3291840"/>
          </a:xfrm>
          <a:prstGeom prst="roundRect">
            <a:avLst>
              <a:gd name="adj" fmla="val 2222"/>
            </a:avLst>
          </a:prstGeom>
          <a:solidFill>
            <a:srgbClr val="EEF3F8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201168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41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Otsuki &amp; Mori (baseline)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606040"/>
            <a:ext cx="47548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Monte-Carlo transport for GAA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Poisson inside the MC loop replaced by a PI-DeepONet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Discretization core: strong-form finite differences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learning accelerates the MC run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09360" y="1828800"/>
            <a:ext cx="5212080" cy="3291840"/>
          </a:xfrm>
          <a:prstGeom prst="roundRect">
            <a:avLst>
              <a:gd name="adj" fmla="val 2222"/>
            </a:avLst>
          </a:prstGeom>
          <a:solidFill>
            <a:srgbClr val="EEF3F8"/>
          </a:solidFill>
          <a:ln/>
        </p:spPr>
      </p:sp>
      <p:sp>
        <p:nvSpPr>
          <p:cNvPr id="8" name="Text 6"/>
          <p:cNvSpPr/>
          <p:nvPr/>
        </p:nvSpPr>
        <p:spPr>
          <a:xfrm>
            <a:off x="6537960" y="201168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9A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work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37960" y="2606040"/>
            <a:ext cx="47548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Weak-form (Galerkin FE) at the operator core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Interface-robust residual K(ε)φ−Mρ as the physics loss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 a-posteriori estimator drives refinement + online trigger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FEM keeps accuracy; net / continuation only accelerate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53035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5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receptive frame ("ML accelerates TCAD"); the discretization core differs — demo ② quantifies it.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② — THE ONE-PANEL NOVELTY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Weak form vs strong form (no NN involved)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035040" y="1737360"/>
            <a:ext cx="5577840" cy="4023360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 w="12700">
            <a:solidFill>
              <a:srgbClr val="D6E0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35000"/>
              </a:srgbClr>
            </a:outerShdw>
          </a:effectLst>
        </p:spPr>
      </p:sp>
      <p:pic>
        <p:nvPicPr>
          <p:cNvPr id="5" name="Image 0" descr="/home/user/wccm2026-cfrp-gnn/bench_weak_vs_stro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44768" y="1847088"/>
            <a:ext cx="5358384" cy="380390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35040" y="580644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bench_weak_vs_strong.py — FE vs FD, refinement + interface study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40080" y="1783080"/>
            <a:ext cx="457200" cy="457200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640080" y="2423160"/>
            <a:ext cx="4937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discretization test at a material interface (variable ε).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form converges at O(h²); strong form stalls at an interface-error floor.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quantitative backbone for "why weak form".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40080" y="4892040"/>
            <a:ext cx="2354580" cy="1051560"/>
          </a:xfrm>
          <a:prstGeom prst="roundRect">
            <a:avLst>
              <a:gd name="adj" fmla="val 6957"/>
            </a:avLst>
          </a:prstGeom>
          <a:solidFill>
            <a:srgbClr val="EEF3F8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4965192"/>
            <a:ext cx="21717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C9A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O(h²)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731520" y="5495544"/>
            <a:ext cx="21717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weak: 0.13 → 0.0093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223260" y="4892040"/>
            <a:ext cx="2354580" cy="1051560"/>
          </a:xfrm>
          <a:prstGeom prst="roundRect">
            <a:avLst>
              <a:gd name="adj" fmla="val 6957"/>
            </a:avLst>
          </a:prstGeom>
          <a:solidFill>
            <a:srgbClr val="EEF3F8"/>
          </a:solidFill>
          <a:ln/>
        </p:spPr>
      </p:sp>
      <p:sp>
        <p:nvSpPr>
          <p:cNvPr id="14" name="Text 11"/>
          <p:cNvSpPr/>
          <p:nvPr/>
        </p:nvSpPr>
        <p:spPr>
          <a:xfrm>
            <a:off x="3314700" y="4965192"/>
            <a:ext cx="21717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41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~0.55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3314700" y="5495544"/>
            <a:ext cx="21717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strong: floor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① — OPERATOR LEARNING + ONLINE ADAPTATION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Weak-form PI-DeepONet with an FE error trigger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035040" y="1737360"/>
            <a:ext cx="5577840" cy="4023360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 w="12700">
            <a:solidFill>
              <a:srgbClr val="D6E0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35000"/>
              </a:srgbClr>
            </a:outerShdw>
          </a:effectLst>
        </p:spPr>
      </p:sp>
      <p:pic>
        <p:nvPicPr>
          <p:cNvPr id="5" name="Image 0" descr="/home/user/wccm2026-cfrp-gnn/pi_deeponet_fem_ga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44768" y="1847088"/>
            <a:ext cx="5358384" cy="380390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35040" y="580644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pi_deeponet_fem_gaa.py — rel-L2 0.074 at unchanged FE accuracy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40080" y="1783080"/>
            <a:ext cx="457200" cy="457200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640080" y="2423160"/>
            <a:ext cx="4937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GNN-branch DeepONet trained on the Galerkin residual (idea A+B).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 a-posteriori estimator triggers an exact solve only when needed (idea D).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 adaptation lowers the trigger rate as deployment proceeds.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40080" y="4892040"/>
            <a:ext cx="2354580" cy="1051560"/>
          </a:xfrm>
          <a:prstGeom prst="roundRect">
            <a:avLst>
              <a:gd name="adj" fmla="val 6957"/>
            </a:avLst>
          </a:prstGeom>
          <a:solidFill>
            <a:srgbClr val="EEF3F8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4965192"/>
            <a:ext cx="21717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E5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 / 60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731520" y="5495544"/>
            <a:ext cx="21717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triggered exact solves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223260" y="4892040"/>
            <a:ext cx="2354580" cy="1051560"/>
          </a:xfrm>
          <a:prstGeom prst="roundRect">
            <a:avLst>
              <a:gd name="adj" fmla="val 6957"/>
            </a:avLst>
          </a:prstGeom>
          <a:solidFill>
            <a:srgbClr val="EEF3F8"/>
          </a:solidFill>
          <a:ln/>
        </p:spPr>
      </p:sp>
      <p:sp>
        <p:nvSpPr>
          <p:cNvPr id="14" name="Text 11"/>
          <p:cNvSpPr/>
          <p:nvPr/>
        </p:nvSpPr>
        <p:spPr>
          <a:xfrm>
            <a:off x="3314700" y="4965192"/>
            <a:ext cx="21717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C9A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57%→23%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3314700" y="5495544"/>
            <a:ext cx="21717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rate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 ③ ④ ⑤ — IDEA C, NEWTON WARM-START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Learned warm-start: 1D → 2D GAA → CFET stack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035040" y="1737360"/>
            <a:ext cx="5577840" cy="4023360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 w="12700">
            <a:solidFill>
              <a:srgbClr val="D6E0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35000"/>
              </a:srgbClr>
            </a:outerShdw>
          </a:effectLst>
        </p:spPr>
      </p:sp>
      <p:pic>
        <p:nvPicPr>
          <p:cNvPr id="5" name="Image 0" descr="/home/user/wccm2026-cfrp-gnn/cfet_stack_warmstar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44768" y="1847088"/>
            <a:ext cx="5358384" cy="380390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35040" y="580644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cfet_stack_warmstart.py (n/p stack) — cf. fe_/dd2d_ warm-start demos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40080" y="1783080"/>
            <a:ext cx="457200" cy="457200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1207008" y="1783080"/>
            <a:ext cx="457200" cy="457200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10" name="Text 7"/>
          <p:cNvSpPr/>
          <p:nvPr/>
        </p:nvSpPr>
        <p:spPr>
          <a:xfrm>
            <a:off x="1207008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1773936" y="1783080"/>
            <a:ext cx="457200" cy="457200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12" name="Text 9"/>
          <p:cNvSpPr/>
          <p:nvPr/>
        </p:nvSpPr>
        <p:spPr>
          <a:xfrm>
            <a:off x="1773936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40080" y="2423160"/>
            <a:ext cx="4937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learned initial guess seeds damped Newton; every solve stays exact FE.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 nonlinear Poisson → 2D GAA slice → multi-material CFET cross-section.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FEM guarantees accuracy; the net only cuts iterations.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640080" y="4892040"/>
            <a:ext cx="2354580" cy="1051560"/>
          </a:xfrm>
          <a:prstGeom prst="roundRect">
            <a:avLst>
              <a:gd name="adj" fmla="val 6957"/>
            </a:avLst>
          </a:prstGeom>
          <a:solidFill>
            <a:srgbClr val="EEF3F8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4965192"/>
            <a:ext cx="21717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C9A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~40%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731520" y="5495544"/>
            <a:ext cx="21717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Newton iters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3223260" y="4892040"/>
            <a:ext cx="2354580" cy="1051560"/>
          </a:xfrm>
          <a:prstGeom prst="roundRect">
            <a:avLst>
              <a:gd name="adj" fmla="val 6957"/>
            </a:avLst>
          </a:prstGeom>
          <a:solidFill>
            <a:srgbClr val="EEF3F8"/>
          </a:solidFill>
          <a:ln/>
        </p:spPr>
      </p:sp>
      <p:sp>
        <p:nvSpPr>
          <p:cNvPr id="18" name="Text 15"/>
          <p:cNvSpPr/>
          <p:nvPr/>
        </p:nvSpPr>
        <p:spPr>
          <a:xfrm>
            <a:off x="3314700" y="4965192"/>
            <a:ext cx="21717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E5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4.8→3.0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3314700" y="5495544"/>
            <a:ext cx="21717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CFET cold→warm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 ⑧ ⑨ — FULL DRIFT-DIFFUSION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Coupled DD: ideal diode &amp; continuation at high bias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035040" y="1737360"/>
            <a:ext cx="5577840" cy="4023360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 w="12700">
            <a:solidFill>
              <a:srgbClr val="D6E0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35000"/>
              </a:srgbClr>
            </a:outerShdw>
          </a:effectLst>
        </p:spPr>
      </p:sp>
      <p:pic>
        <p:nvPicPr>
          <p:cNvPr id="5" name="Image 0" descr="/home/user/wccm2026-cfrp-gnn/dd_breakdown_continua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44768" y="1847088"/>
            <a:ext cx="5358384" cy="380390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35040" y="580644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dd_breakdown_continuation.py — impact ionization kept mild (~×2.1)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40080" y="1783080"/>
            <a:ext cx="457200" cy="457200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1207008" y="1783080"/>
            <a:ext cx="457200" cy="457200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10" name="Text 7"/>
          <p:cNvSpPr/>
          <p:nvPr/>
        </p:nvSpPr>
        <p:spPr>
          <a:xfrm>
            <a:off x="1207008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40080" y="2423160"/>
            <a:ext cx="4937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 pn junction, Scharfetter–Gummel + Gummel (⑧): ideal-diode I–V validated.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reverse bias (⑨): cold start diverges at 4 V_t; continuation reaches 45 V_t.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idea C is not "faster" — it decides convergence vs divergence.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640080" y="4892040"/>
            <a:ext cx="2354580" cy="1051560"/>
          </a:xfrm>
          <a:prstGeom prst="roundRect">
            <a:avLst>
              <a:gd name="adj" fmla="val 6957"/>
            </a:avLst>
          </a:prstGeom>
          <a:solidFill>
            <a:srgbClr val="EEF3F8"/>
          </a:solidFill>
          <a:ln/>
        </p:spPr>
      </p:sp>
      <p:sp>
        <p:nvSpPr>
          <p:cNvPr id="13" name="Text 10"/>
          <p:cNvSpPr/>
          <p:nvPr/>
        </p:nvSpPr>
        <p:spPr>
          <a:xfrm>
            <a:off x="731520" y="4965192"/>
            <a:ext cx="21717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9A1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V_t → 45 V_t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731520" y="5495544"/>
            <a:ext cx="21717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diverges → continues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3223260" y="4892040"/>
            <a:ext cx="2354580" cy="1051560"/>
          </a:xfrm>
          <a:prstGeom prst="roundRect">
            <a:avLst>
              <a:gd name="adj" fmla="val 6957"/>
            </a:avLst>
          </a:prstGeom>
          <a:solidFill>
            <a:srgbClr val="EEF3F8"/>
          </a:solidFill>
          <a:ln/>
        </p:spPr>
      </p:sp>
      <p:sp>
        <p:nvSpPr>
          <p:cNvPr id="16" name="Text 13"/>
          <p:cNvSpPr/>
          <p:nvPr/>
        </p:nvSpPr>
        <p:spPr>
          <a:xfrm>
            <a:off x="3314700" y="4965192"/>
            <a:ext cx="21717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E5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J∝e^{V/Vt}−1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3314700" y="5495544"/>
            <a:ext cx="21717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diode validated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 ⑥ ⑦ — TSV THERMO-MECHANICAL STRESS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3D-stack packaging: FE thermoelasticity + KOZ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035040" y="1737360"/>
            <a:ext cx="5577840" cy="4023360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 w="12700">
            <a:solidFill>
              <a:srgbClr val="D6E0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35000"/>
              </a:srgbClr>
            </a:outerShdw>
          </a:effectLst>
        </p:spPr>
      </p:sp>
      <p:pic>
        <p:nvPicPr>
          <p:cNvPr id="5" name="Image 0" descr="/home/user/wccm2026-cfrp-gnn/tsv_3d_stres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44768" y="1847088"/>
            <a:ext cx="5358384" cy="380390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35040" y="580644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tsv_3d_stress.py — bridges to the repo's CFRP stress × GNN core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40080" y="1783080"/>
            <a:ext cx="457200" cy="457200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1207008" y="1783080"/>
            <a:ext cx="457200" cy="457200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10" name="Text 7"/>
          <p:cNvSpPr/>
          <p:nvPr/>
        </p:nvSpPr>
        <p:spPr>
          <a:xfrm>
            <a:off x="1207008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40080" y="2423160"/>
            <a:ext cx="4937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(⑥): CNN stress-field surrogate + keep-out-zone from FE thermoelasticity.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(⑦): real elastic constants — anisotropic Si (C11/C12/C44) vs isotropic Cu.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Anisotropy gives 4-fold (cloverleaf) stress → direction-dependent KOZ.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640080" y="4892040"/>
            <a:ext cx="2354580" cy="1051560"/>
          </a:xfrm>
          <a:prstGeom prst="roundRect">
            <a:avLst>
              <a:gd name="adj" fmla="val 6957"/>
            </a:avLst>
          </a:prstGeom>
          <a:solidFill>
            <a:srgbClr val="EEF3F8"/>
          </a:solidFill>
          <a:ln/>
        </p:spPr>
      </p:sp>
      <p:sp>
        <p:nvSpPr>
          <p:cNvPr id="13" name="Text 10"/>
          <p:cNvSpPr/>
          <p:nvPr/>
        </p:nvSpPr>
        <p:spPr>
          <a:xfrm>
            <a:off x="731520" y="4965192"/>
            <a:ext cx="21717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C9A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IoU 0.819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731520" y="5495544"/>
            <a:ext cx="21717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 keep-out zone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3223260" y="4892040"/>
            <a:ext cx="2354580" cy="1051560"/>
          </a:xfrm>
          <a:prstGeom prst="roundRect">
            <a:avLst>
              <a:gd name="adj" fmla="val 6957"/>
            </a:avLst>
          </a:prstGeom>
          <a:solidFill>
            <a:srgbClr val="EEF3F8"/>
          </a:solidFill>
          <a:ln/>
        </p:spPr>
      </p:sp>
      <p:sp>
        <p:nvSpPr>
          <p:cNvPr id="16" name="Text 13"/>
          <p:cNvSpPr/>
          <p:nvPr/>
        </p:nvSpPr>
        <p:spPr>
          <a:xfrm>
            <a:off x="3314700" y="4965192"/>
            <a:ext cx="21717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E5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analytic PASS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3314700" y="5495544"/>
            <a:ext cx="21717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 machine precision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 ⑩ ⑪ — REAL MULTI-MATERIAL TCAD WORKLOAD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 sweep amortized, then made a learned operator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035040" y="1737360"/>
            <a:ext cx="5577840" cy="4023360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 w="12700">
            <a:solidFill>
              <a:srgbClr val="D6E0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35000"/>
              </a:srgbClr>
            </a:outerShdw>
          </a:effectLst>
        </p:spPr>
      </p:sp>
      <p:pic>
        <p:nvPicPr>
          <p:cNvPr id="5" name="Image 0" descr="/home/user/wccm2026-cfrp-gnn/gaa_operator_deepon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44768" y="1847088"/>
            <a:ext cx="5358384" cy="380390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35040" y="580644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gaa_operator_deeponet.py — normalization uses train materials only (no leak)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40080" y="1783080"/>
            <a:ext cx="457200" cy="457200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1207008" y="1783080"/>
            <a:ext cx="457200" cy="457200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10" name="Text 7"/>
          <p:cNvSpPr/>
          <p:nvPr/>
        </p:nvSpPr>
        <p:spPr>
          <a:xfrm>
            <a:off x="1207008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40080" y="2423160"/>
            <a:ext cx="4937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Mirrors Balaji+2026 (Sentaurus): Si/Ge/GeSn/InGaAs/MoS₂ × bias, cylindrical GAA.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⑩ continuation amortizes 45 self-consistent FE solves (217→161 Newton iters).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⑪ DeepONet: 1-shot on an unseen material, then warm-starts FE (A+B+C unified).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640080" y="4892040"/>
            <a:ext cx="2354580" cy="1051560"/>
          </a:xfrm>
          <a:prstGeom prst="roundRect">
            <a:avLst>
              <a:gd name="adj" fmla="val 6957"/>
            </a:avLst>
          </a:prstGeom>
          <a:solidFill>
            <a:srgbClr val="EEF3F8"/>
          </a:solidFill>
          <a:ln/>
        </p:spPr>
      </p:sp>
      <p:sp>
        <p:nvSpPr>
          <p:cNvPr id="13" name="Text 10"/>
          <p:cNvSpPr/>
          <p:nvPr/>
        </p:nvSpPr>
        <p:spPr>
          <a:xfrm>
            <a:off x="731520" y="4965192"/>
            <a:ext cx="21717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E5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rel-L2 0.015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731520" y="5495544"/>
            <a:ext cx="21717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⑪ unseen material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3223260" y="4892040"/>
            <a:ext cx="2354580" cy="1051560"/>
          </a:xfrm>
          <a:prstGeom prst="roundRect">
            <a:avLst>
              <a:gd name="adj" fmla="val 6957"/>
            </a:avLst>
          </a:prstGeom>
          <a:solidFill>
            <a:srgbClr val="EEF3F8"/>
          </a:solidFill>
          <a:ln/>
        </p:spPr>
      </p:sp>
      <p:sp>
        <p:nvSpPr>
          <p:cNvPr id="16" name="Text 13"/>
          <p:cNvSpPr/>
          <p:nvPr/>
        </p:nvSpPr>
        <p:spPr>
          <a:xfrm>
            <a:off x="3314700" y="4965192"/>
            <a:ext cx="21717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C9A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5.2→2.8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3314700" y="5495544"/>
            <a:ext cx="21717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⑪ warm-start iters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⑫ — WFM TUNES THE THRESHOLD VOLTAGE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Work-function metal → Vth on the GAA cross-section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035040" y="1737360"/>
            <a:ext cx="5577840" cy="4023360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 w="12700">
            <a:solidFill>
              <a:srgbClr val="D6E0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35000"/>
              </a:srgbClr>
            </a:outerShdw>
          </a:effectLst>
        </p:spPr>
      </p:sp>
      <p:pic>
        <p:nvPicPr>
          <p:cNvPr id="5" name="Image 0" descr="/home/user/wccm2026-cfrp-gnn/gaa_wfm_vth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44768" y="1847088"/>
            <a:ext cx="5358384" cy="380390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35040" y="580644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gaa_wfm_vth.py — ideal flat-band model (no traps/poly-depletion), illustrative scale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40080" y="1783080"/>
            <a:ext cx="457200" cy="457200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640080" y="2423160"/>
            <a:ext cx="4937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the pilot-line WFM step (Applied Endura-3 class) to a computed threshold.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WFM (Φ_m 4.2–5.0 eV): FE Q–V_g solves on the disk → extract Vth per metal.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Recovers the ideal flat-band law ΔVth = ΔΦ_WFM on the real cross-section.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40080" y="4892040"/>
            <a:ext cx="2354580" cy="1051560"/>
          </a:xfrm>
          <a:prstGeom prst="roundRect">
            <a:avLst>
              <a:gd name="adj" fmla="val 6957"/>
            </a:avLst>
          </a:prstGeom>
          <a:solidFill>
            <a:srgbClr val="EEF3F8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4965192"/>
            <a:ext cx="21717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C9A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1.00 V/eV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731520" y="5495544"/>
            <a:ext cx="21717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ΔVth / ΔΦ_WFM (slope)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223260" y="4892040"/>
            <a:ext cx="2354580" cy="1051560"/>
          </a:xfrm>
          <a:prstGeom prst="roundRect">
            <a:avLst>
              <a:gd name="adj" fmla="val 6957"/>
            </a:avLst>
          </a:prstGeom>
          <a:solidFill>
            <a:srgbClr val="EEF3F8"/>
          </a:solidFill>
          <a:ln/>
        </p:spPr>
      </p:sp>
      <p:sp>
        <p:nvSpPr>
          <p:cNvPr id="14" name="Text 11"/>
          <p:cNvSpPr/>
          <p:nvPr/>
        </p:nvSpPr>
        <p:spPr>
          <a:xfrm>
            <a:off x="3314700" y="4965192"/>
            <a:ext cx="21717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E5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0.04→0.84 V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3314700" y="5495544"/>
            <a:ext cx="21717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Vth design window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FAB TO SIMULATION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Pilot-line process ↔ what we simulate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AIST advanced-semiconductor pilot line (GAA nanosheet)   →   this work's demos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4663440" cy="786384"/>
          </a:xfrm>
          <a:prstGeom prst="roundRect">
            <a:avLst>
              <a:gd name="adj" fmla="val 8140"/>
            </a:avLst>
          </a:prstGeom>
          <a:solidFill>
            <a:srgbClr val="EEF3F8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74520"/>
            <a:ext cx="4297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nanosheet channel — SiGe release (Certas)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349240" y="2267712"/>
            <a:ext cx="914400" cy="914400"/>
          </a:xfrm>
          <a:prstGeom prst="line">
            <a:avLst/>
          </a:prstGeom>
          <a:noFill/>
          <a:ln w="31750">
            <a:solidFill>
              <a:srgbClr val="1C9AA8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760720" y="1874520"/>
            <a:ext cx="5120640" cy="786384"/>
          </a:xfrm>
          <a:prstGeom prst="roundRect">
            <a:avLst>
              <a:gd name="adj" fmla="val 8140"/>
            </a:avLst>
          </a:prstGeom>
          <a:solidFill>
            <a:srgbClr val="E7F0F7"/>
          </a:solidFill>
          <a:ln w="12700">
            <a:solidFill>
              <a:srgbClr val="1C9A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0" y="1874520"/>
            <a:ext cx="47548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E5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GAA nonlinear Poisson  ①③④⑩⑪⑫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2788920"/>
            <a:ext cx="4663440" cy="786384"/>
          </a:xfrm>
          <a:prstGeom prst="roundRect">
            <a:avLst>
              <a:gd name="adj" fmla="val 8140"/>
            </a:avLst>
          </a:prstGeom>
          <a:solidFill>
            <a:srgbClr val="EEF3F8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788920"/>
            <a:ext cx="4297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High-k + WFM gate (Eagle-XP4 / Endura-3)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349240" y="3182112"/>
            <a:ext cx="914400" cy="914400"/>
          </a:xfrm>
          <a:prstGeom prst="line">
            <a:avLst/>
          </a:prstGeom>
          <a:noFill/>
          <a:ln w="31750">
            <a:solidFill>
              <a:srgbClr val="1C9AA8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760720" y="2788920"/>
            <a:ext cx="5120640" cy="786384"/>
          </a:xfrm>
          <a:prstGeom prst="roundRect">
            <a:avLst>
              <a:gd name="adj" fmla="val 8140"/>
            </a:avLst>
          </a:prstGeom>
          <a:solidFill>
            <a:srgbClr val="E7F0F7"/>
          </a:solidFill>
          <a:ln w="12700">
            <a:solidFill>
              <a:srgbClr val="1C9AA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0" y="2788920"/>
            <a:ext cx="47548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E5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variable-ε interface · WFM→Vth  ②⑫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3703320"/>
            <a:ext cx="4663440" cy="786384"/>
          </a:xfrm>
          <a:prstGeom prst="roundRect">
            <a:avLst>
              <a:gd name="adj" fmla="val 8140"/>
            </a:avLst>
          </a:prstGeom>
          <a:solidFill>
            <a:srgbClr val="EEF3F8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3703320"/>
            <a:ext cx="4297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SiGe → Ge / GeSn channels (EpiPrime)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349240" y="4096512"/>
            <a:ext cx="914400" cy="914400"/>
          </a:xfrm>
          <a:prstGeom prst="line">
            <a:avLst/>
          </a:prstGeom>
          <a:noFill/>
          <a:ln w="31750">
            <a:solidFill>
              <a:srgbClr val="1C9AA8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760720" y="3703320"/>
            <a:ext cx="5120640" cy="786384"/>
          </a:xfrm>
          <a:prstGeom prst="roundRect">
            <a:avLst>
              <a:gd name="adj" fmla="val 8140"/>
            </a:avLst>
          </a:prstGeom>
          <a:solidFill>
            <a:srgbClr val="E7F0F7"/>
          </a:solidFill>
          <a:ln w="12700">
            <a:solidFill>
              <a:srgbClr val="1C9AA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0" y="3703320"/>
            <a:ext cx="47548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E5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multi-material sweep  ⑩⑪ (Balaji+2026)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4617720"/>
            <a:ext cx="4663440" cy="786384"/>
          </a:xfrm>
          <a:prstGeom prst="roundRect">
            <a:avLst>
              <a:gd name="adj" fmla="val 8140"/>
            </a:avLst>
          </a:prstGeom>
          <a:solidFill>
            <a:srgbClr val="EEF3F8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4617720"/>
            <a:ext cx="4297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CFET / 3D stack / TSV (next node)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349240" y="5010912"/>
            <a:ext cx="914400" cy="914400"/>
          </a:xfrm>
          <a:prstGeom prst="line">
            <a:avLst/>
          </a:prstGeom>
          <a:noFill/>
          <a:ln w="31750">
            <a:solidFill>
              <a:srgbClr val="1C9AA8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5760720" y="4617720"/>
            <a:ext cx="5120640" cy="786384"/>
          </a:xfrm>
          <a:prstGeom prst="roundRect">
            <a:avLst>
              <a:gd name="adj" fmla="val 8140"/>
            </a:avLst>
          </a:prstGeom>
          <a:solidFill>
            <a:srgbClr val="E7F0F7"/>
          </a:solidFill>
          <a:ln w="12700">
            <a:solidFill>
              <a:srgbClr val="1C9AA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0" y="4617720"/>
            <a:ext cx="47548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E5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CFET slice ⑤ · TSV thermo-mech ⑥⑦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40080" y="5532120"/>
            <a:ext cx="4663440" cy="786384"/>
          </a:xfrm>
          <a:prstGeom prst="roundRect">
            <a:avLst>
              <a:gd name="adj" fmla="val 8140"/>
            </a:avLst>
          </a:prstGeom>
          <a:solidFill>
            <a:srgbClr val="EEF3F8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" y="5532120"/>
            <a:ext cx="4297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× bias TCAD sweep (Sentaurus)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349240" y="5925312"/>
            <a:ext cx="914400" cy="914400"/>
          </a:xfrm>
          <a:prstGeom prst="line">
            <a:avLst/>
          </a:prstGeom>
          <a:noFill/>
          <a:ln w="31750">
            <a:solidFill>
              <a:srgbClr val="1C9AA8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5760720" y="5532120"/>
            <a:ext cx="5120640" cy="786384"/>
          </a:xfrm>
          <a:prstGeom prst="roundRect">
            <a:avLst>
              <a:gd name="adj" fmla="val 8140"/>
            </a:avLst>
          </a:prstGeom>
          <a:solidFill>
            <a:srgbClr val="E7F0F7"/>
          </a:solidFill>
          <a:ln w="12700">
            <a:solidFill>
              <a:srgbClr val="1C9AA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5532120"/>
            <a:ext cx="47548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E5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continuation ⑩ · learned operator ⑪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CONTEXT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Post-5G “B” national project ↔ our demos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10881360" cy="502920"/>
          </a:xfrm>
          <a:prstGeom prst="roundRect">
            <a:avLst>
              <a:gd name="adj" fmla="val 14545"/>
            </a:avLst>
          </a:prstGeom>
          <a:solidFill>
            <a:srgbClr val="0B1F3A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41732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METI / NEDO Post-5G · 先端半導体製造技術 (B)    —    ¥76.9 B budget · target 2030: ¥15 T domestic semiconductor sales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94560"/>
            <a:ext cx="5669280" cy="914400"/>
          </a:xfrm>
          <a:prstGeom prst="roundRect">
            <a:avLst>
              <a:gd name="adj" fmla="val 7000"/>
            </a:avLst>
          </a:prstGeom>
          <a:solidFill>
            <a:srgbClr val="EEF3F8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19456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B-a1 前工程 · GAA nanosheet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 / SCREEN / Canon + AIST pilot line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55080" y="2651760"/>
            <a:ext cx="914400" cy="914400"/>
          </a:xfrm>
          <a:prstGeom prst="line">
            <a:avLst/>
          </a:prstGeom>
          <a:noFill/>
          <a:ln w="31750">
            <a:solidFill>
              <a:srgbClr val="1C9AA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6766560" y="2194560"/>
            <a:ext cx="4480560" cy="914400"/>
          </a:xfrm>
          <a:prstGeom prst="roundRect">
            <a:avLst>
              <a:gd name="adj" fmla="val 7000"/>
            </a:avLst>
          </a:prstGeom>
          <a:solidFill>
            <a:srgbClr val="E7F0F7"/>
          </a:solidFill>
          <a:ln w="12700">
            <a:solidFill>
              <a:srgbClr val="1C9A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949440" y="219456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E5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GAA electrostatics  ①③④⑤⑩⑪⑫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3255264"/>
            <a:ext cx="5669280" cy="914400"/>
          </a:xfrm>
          <a:prstGeom prst="roundRect">
            <a:avLst>
              <a:gd name="adj" fmla="val 7000"/>
            </a:avLst>
          </a:prstGeom>
          <a:solidFill>
            <a:srgbClr val="EEF3F8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3255264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B-b1/b2 後工程 · 3D packaging · WoW/CoW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TSMC 3DIC / RaaS / Sony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355080" y="3712464"/>
            <a:ext cx="914400" cy="914400"/>
          </a:xfrm>
          <a:prstGeom prst="line">
            <a:avLst/>
          </a:prstGeom>
          <a:noFill/>
          <a:ln w="31750">
            <a:solidFill>
              <a:srgbClr val="1C9AA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766560" y="3255264"/>
            <a:ext cx="4480560" cy="914400"/>
          </a:xfrm>
          <a:prstGeom prst="roundRect">
            <a:avLst>
              <a:gd name="adj" fmla="val 7000"/>
            </a:avLst>
          </a:prstGeom>
          <a:solidFill>
            <a:srgbClr val="E7F0F7"/>
          </a:solidFill>
          <a:ln w="12700">
            <a:solidFill>
              <a:srgbClr val="1C9A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49440" y="3255264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E5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TSV thermo-mechanics  ⑥⑦  (+ CFRP×GNN)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315968"/>
            <a:ext cx="5669280" cy="914400"/>
          </a:xfrm>
          <a:prstGeom prst="roundRect">
            <a:avLst>
              <a:gd name="adj" fmla="val 7000"/>
            </a:avLst>
          </a:prstGeom>
          <a:solidFill>
            <a:srgbClr val="EEF3F8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315968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channel / interconnect · SiGe·Ge·2D, Cu→Ru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355080" y="4773168"/>
            <a:ext cx="914400" cy="914400"/>
          </a:xfrm>
          <a:prstGeom prst="line">
            <a:avLst/>
          </a:prstGeom>
          <a:noFill/>
          <a:ln w="31750">
            <a:solidFill>
              <a:srgbClr val="1C9AA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766560" y="4315968"/>
            <a:ext cx="4480560" cy="914400"/>
          </a:xfrm>
          <a:prstGeom prst="roundRect">
            <a:avLst>
              <a:gd name="adj" fmla="val 7000"/>
            </a:avLst>
          </a:prstGeom>
          <a:solidFill>
            <a:srgbClr val="E7F0F7"/>
          </a:solidFill>
          <a:ln w="12700">
            <a:solidFill>
              <a:srgbClr val="1C9AA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49440" y="4315968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E5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multi-material sweep  ⑩⑪  (Balaji+2026)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5376672"/>
            <a:ext cx="5669280" cy="914400"/>
          </a:xfrm>
          <a:prstGeom prst="roundRect">
            <a:avLst>
              <a:gd name="adj" fmla="val 7000"/>
            </a:avLst>
          </a:prstGeom>
          <a:solidFill>
            <a:srgbClr val="EEF3F8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5376672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B-d1 国際連携 · 2 nm logic (Rapidus)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355080" y="5833872"/>
            <a:ext cx="914400" cy="914400"/>
          </a:xfrm>
          <a:prstGeom prst="line">
            <a:avLst/>
          </a:prstGeom>
          <a:noFill/>
          <a:ln w="31750">
            <a:solidFill>
              <a:srgbClr val="1C9AA8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6766560" y="5376672"/>
            <a:ext cx="4480560" cy="914400"/>
          </a:xfrm>
          <a:prstGeom prst="roundRect">
            <a:avLst>
              <a:gd name="adj" fmla="val 7000"/>
            </a:avLst>
          </a:prstGeom>
          <a:solidFill>
            <a:srgbClr val="E7F0F7"/>
          </a:solidFill>
          <a:ln w="12700">
            <a:solidFill>
              <a:srgbClr val="1C9AA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49440" y="5376672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E5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target device  (context)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LIMITATIONS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— and is not — demonstrated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881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12 are concept demos (CPU, minutes, seed-fixed).</a:t>
            </a:r>
            <a:endParaRPr lang="en-US" sz="15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①'s error indicator is the raw relative Galerkin residual; the tolerance is calibrated, not a solution-error bound.</a:t>
            </a:r>
            <a:endParaRPr lang="en-US" sz="15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Warm-start on robust monotone solves gives modest gains (~10–40%); the decisive case is ⑨ (converge vs diverge).</a:t>
            </a:r>
            <a:endParaRPr lang="en-US" sz="15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 full DD (⑧⑨) is implemented; coupled 2D/3D semiconductor DD (Full Newton, needs variable scaling) is future work.</a:t>
            </a:r>
            <a:endParaRPr lang="en-US" sz="15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"3D unimplemented" refers to semiconductor DD only — 3D thermoelasticity (⑦) is implemented.</a:t>
            </a:r>
            <a:endParaRPr lang="en-US" sz="15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⑩⑪ screening κ is an illustrative non-dimensional scale (ordering &amp; trends are physical); ⑪'s disk is near radially symmetric.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axes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881360" cy="621792"/>
          </a:xfrm>
          <a:prstGeom prst="roundRect">
            <a:avLst>
              <a:gd name="adj" fmla="val 8824"/>
            </a:avLst>
          </a:prstGeom>
          <a:solidFill>
            <a:srgbClr val="EEF3F8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956816"/>
            <a:ext cx="274320" cy="274320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783080"/>
            <a:ext cx="9966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vertical-gate geometry + unstructured mesh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2532888"/>
            <a:ext cx="10881360" cy="621792"/>
          </a:xfrm>
          <a:prstGeom prst="roundRect">
            <a:avLst>
              <a:gd name="adj" fmla="val 8824"/>
            </a:avLst>
          </a:prstGeom>
          <a:solidFill>
            <a:srgbClr val="EEF3F8"/>
          </a:solidFill>
          <a:ln/>
        </p:spPr>
      </p:sp>
      <p:sp>
        <p:nvSpPr>
          <p:cNvPr id="8" name="Shape 6"/>
          <p:cNvSpPr/>
          <p:nvPr/>
        </p:nvSpPr>
        <p:spPr>
          <a:xfrm>
            <a:off x="822960" y="2706624"/>
            <a:ext cx="274320" cy="274320"/>
          </a:xfrm>
          <a:prstGeom prst="ellipse">
            <a:avLst/>
          </a:prstGeom>
          <a:solidFill>
            <a:srgbClr val="0E5A8A"/>
          </a:solidFill>
          <a:ln/>
        </p:spPr>
      </p:sp>
      <p:sp>
        <p:nvSpPr>
          <p:cNvPr id="9" name="Text 7"/>
          <p:cNvSpPr/>
          <p:nvPr/>
        </p:nvSpPr>
        <p:spPr>
          <a:xfrm>
            <a:off x="1280160" y="2532888"/>
            <a:ext cx="9966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2D-CFET (2D-material channels)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3282696"/>
            <a:ext cx="10881360" cy="621792"/>
          </a:xfrm>
          <a:prstGeom prst="roundRect">
            <a:avLst>
              <a:gd name="adj" fmla="val 8824"/>
            </a:avLst>
          </a:prstGeom>
          <a:solidFill>
            <a:srgbClr val="EEF3F8"/>
          </a:solidFill>
          <a:ln/>
        </p:spPr>
      </p:sp>
      <p:sp>
        <p:nvSpPr>
          <p:cNvPr id="11" name="Shape 9"/>
          <p:cNvSpPr/>
          <p:nvPr/>
        </p:nvSpPr>
        <p:spPr>
          <a:xfrm>
            <a:off x="822960" y="3456432"/>
            <a:ext cx="274320" cy="274320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12" name="Text 10"/>
          <p:cNvSpPr/>
          <p:nvPr/>
        </p:nvSpPr>
        <p:spPr>
          <a:xfrm>
            <a:off x="1280160" y="3282696"/>
            <a:ext cx="9966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avalanche (implicit G) &amp; 2D Full-Newton coupled DD (variable scaling)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4032504"/>
            <a:ext cx="10881360" cy="621792"/>
          </a:xfrm>
          <a:prstGeom prst="roundRect">
            <a:avLst>
              <a:gd name="adj" fmla="val 8824"/>
            </a:avLst>
          </a:prstGeom>
          <a:solidFill>
            <a:srgbClr val="EEF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822960" y="4206240"/>
            <a:ext cx="274320" cy="274320"/>
          </a:xfrm>
          <a:prstGeom prst="ellipse">
            <a:avLst/>
          </a:prstGeom>
          <a:solidFill>
            <a:srgbClr val="0E5A8A"/>
          </a:solidFill>
          <a:ln/>
        </p:spPr>
      </p:sp>
      <p:sp>
        <p:nvSpPr>
          <p:cNvPr id="15" name="Text 13"/>
          <p:cNvSpPr/>
          <p:nvPr/>
        </p:nvSpPr>
        <p:spPr>
          <a:xfrm>
            <a:off x="1280160" y="4032504"/>
            <a:ext cx="9966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 operator on asymmetric doping (trunk expressiveness) + GNN branch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4782312"/>
            <a:ext cx="10881360" cy="621792"/>
          </a:xfrm>
          <a:prstGeom prst="roundRect">
            <a:avLst>
              <a:gd name="adj" fmla="val 8824"/>
            </a:avLst>
          </a:prstGeom>
          <a:solidFill>
            <a:srgbClr val="EEF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822960" y="4956048"/>
            <a:ext cx="274320" cy="274320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18" name="Text 16"/>
          <p:cNvSpPr/>
          <p:nvPr/>
        </p:nvSpPr>
        <p:spPr>
          <a:xfrm>
            <a:off x="1280160" y="4782312"/>
            <a:ext cx="9966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η-driven h-refinement (AMR) with mesh-agnostic branch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0080" y="5532120"/>
            <a:ext cx="10881360" cy="621792"/>
          </a:xfrm>
          <a:prstGeom prst="roundRect">
            <a:avLst>
              <a:gd name="adj" fmla="val 8824"/>
            </a:avLst>
          </a:prstGeom>
          <a:solidFill>
            <a:srgbClr val="EEF3F8"/>
          </a:solidFill>
          <a:ln/>
        </p:spPr>
      </p:sp>
      <p:sp>
        <p:nvSpPr>
          <p:cNvPr id="20" name="Shape 18"/>
          <p:cNvSpPr/>
          <p:nvPr/>
        </p:nvSpPr>
        <p:spPr>
          <a:xfrm>
            <a:off x="822960" y="5705856"/>
            <a:ext cx="274320" cy="274320"/>
          </a:xfrm>
          <a:prstGeom prst="ellipse">
            <a:avLst/>
          </a:prstGeom>
          <a:solidFill>
            <a:srgbClr val="0E5A8A"/>
          </a:solidFill>
          <a:ln/>
        </p:spPr>
      </p:sp>
      <p:sp>
        <p:nvSpPr>
          <p:cNvPr id="21" name="Text 19"/>
          <p:cNvSpPr/>
          <p:nvPr/>
        </p:nvSpPr>
        <p:spPr>
          <a:xfrm>
            <a:off x="1280160" y="5532120"/>
            <a:ext cx="9966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stress-field surrogate; KOZ classification in the CFRP-defect GNN pipeline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023360"/>
            <a:ext cx="4572000" cy="4572000"/>
          </a:xfrm>
          <a:prstGeom prst="ellipse">
            <a:avLst/>
          </a:prstGeom>
          <a:solidFill>
            <a:srgbClr val="13355E"/>
          </a:solidFill>
          <a:ln w="12700">
            <a:solidFill>
              <a:srgbClr val="1C9A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515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Weak form at the core makes the surrogate</a:t>
            </a:r>
            <a:endParaRPr lang="en-US" sz="3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interface-robust — FEM stays the authority,</a:t>
            </a:r>
            <a:endParaRPr lang="en-US" sz="3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&amp; continuation only accelerate.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4114800"/>
            <a:ext cx="5257800" cy="658368"/>
          </a:xfrm>
          <a:prstGeom prst="roundRect">
            <a:avLst>
              <a:gd name="adj" fmla="val 11111"/>
            </a:avLst>
          </a:prstGeom>
          <a:solidFill>
            <a:srgbClr val="13355E"/>
          </a:solidFill>
          <a:ln/>
        </p:spPr>
      </p:sp>
      <p:sp>
        <p:nvSpPr>
          <p:cNvPr id="6" name="Shape 4"/>
          <p:cNvSpPr/>
          <p:nvPr/>
        </p:nvSpPr>
        <p:spPr>
          <a:xfrm>
            <a:off x="932688" y="4233672"/>
            <a:ext cx="420624" cy="420624"/>
          </a:xfrm>
          <a:prstGeom prst="ellipse">
            <a:avLst/>
          </a:prstGeom>
          <a:solidFill>
            <a:srgbClr val="E9A13B"/>
          </a:solidFill>
          <a:ln/>
        </p:spPr>
      </p:sp>
      <p:sp>
        <p:nvSpPr>
          <p:cNvPr id="7" name="Text 5"/>
          <p:cNvSpPr/>
          <p:nvPr/>
        </p:nvSpPr>
        <p:spPr>
          <a:xfrm>
            <a:off x="932688" y="42336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②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81328" y="4114800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form: O(h²) vs strong-form floor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0" y="4114800"/>
            <a:ext cx="5257800" cy="658368"/>
          </a:xfrm>
          <a:prstGeom prst="roundRect">
            <a:avLst>
              <a:gd name="adj" fmla="val 11111"/>
            </a:avLst>
          </a:prstGeom>
          <a:solidFill>
            <a:srgbClr val="13355E"/>
          </a:solidFill>
          <a:ln/>
        </p:spPr>
      </p:sp>
      <p:sp>
        <p:nvSpPr>
          <p:cNvPr id="10" name="Shape 8"/>
          <p:cNvSpPr/>
          <p:nvPr/>
        </p:nvSpPr>
        <p:spPr>
          <a:xfrm>
            <a:off x="6510528" y="4233672"/>
            <a:ext cx="420624" cy="420624"/>
          </a:xfrm>
          <a:prstGeom prst="ellipse">
            <a:avLst/>
          </a:prstGeom>
          <a:solidFill>
            <a:srgbClr val="E9A13B"/>
          </a:solidFill>
          <a:ln/>
        </p:spPr>
      </p:sp>
      <p:sp>
        <p:nvSpPr>
          <p:cNvPr id="11" name="Text 9"/>
          <p:cNvSpPr/>
          <p:nvPr/>
        </p:nvSpPr>
        <p:spPr>
          <a:xfrm>
            <a:off x="6510528" y="42336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①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059168" y="4114800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learning + FE-triggered online adaptation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919472"/>
            <a:ext cx="5257800" cy="658368"/>
          </a:xfrm>
          <a:prstGeom prst="roundRect">
            <a:avLst>
              <a:gd name="adj" fmla="val 11111"/>
            </a:avLst>
          </a:prstGeom>
          <a:solidFill>
            <a:srgbClr val="13355E"/>
          </a:solidFill>
          <a:ln/>
        </p:spPr>
      </p:sp>
      <p:sp>
        <p:nvSpPr>
          <p:cNvPr id="14" name="Shape 12"/>
          <p:cNvSpPr/>
          <p:nvPr/>
        </p:nvSpPr>
        <p:spPr>
          <a:xfrm>
            <a:off x="932688" y="5038344"/>
            <a:ext cx="420624" cy="420624"/>
          </a:xfrm>
          <a:prstGeom prst="ellipse">
            <a:avLst/>
          </a:prstGeom>
          <a:solidFill>
            <a:srgbClr val="E9A13B"/>
          </a:solidFill>
          <a:ln/>
        </p:spPr>
      </p:sp>
      <p:sp>
        <p:nvSpPr>
          <p:cNvPr id="15" name="Text 13"/>
          <p:cNvSpPr/>
          <p:nvPr/>
        </p:nvSpPr>
        <p:spPr>
          <a:xfrm>
            <a:off x="932688" y="50383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③–⑤,⑩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81328" y="4919472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warm-start / continuation: ~40% fewer iters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0" y="4919472"/>
            <a:ext cx="5257800" cy="658368"/>
          </a:xfrm>
          <a:prstGeom prst="roundRect">
            <a:avLst>
              <a:gd name="adj" fmla="val 11111"/>
            </a:avLst>
          </a:prstGeom>
          <a:solidFill>
            <a:srgbClr val="13355E"/>
          </a:solidFill>
          <a:ln/>
        </p:spPr>
      </p:sp>
      <p:sp>
        <p:nvSpPr>
          <p:cNvPr id="18" name="Shape 16"/>
          <p:cNvSpPr/>
          <p:nvPr/>
        </p:nvSpPr>
        <p:spPr>
          <a:xfrm>
            <a:off x="6510528" y="5038344"/>
            <a:ext cx="420624" cy="420624"/>
          </a:xfrm>
          <a:prstGeom prst="ellipse">
            <a:avLst/>
          </a:prstGeom>
          <a:solidFill>
            <a:srgbClr val="E9A13B"/>
          </a:solidFill>
          <a:ln/>
        </p:spPr>
      </p:sp>
      <p:sp>
        <p:nvSpPr>
          <p:cNvPr id="19" name="Text 17"/>
          <p:cNvSpPr/>
          <p:nvPr/>
        </p:nvSpPr>
        <p:spPr>
          <a:xfrm>
            <a:off x="6510528" y="50383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⑨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059168" y="4919472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continuation decides converge vs diverge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22960" y="5724144"/>
            <a:ext cx="5257800" cy="658368"/>
          </a:xfrm>
          <a:prstGeom prst="roundRect">
            <a:avLst>
              <a:gd name="adj" fmla="val 11111"/>
            </a:avLst>
          </a:prstGeom>
          <a:solidFill>
            <a:srgbClr val="13355E"/>
          </a:solidFill>
          <a:ln/>
        </p:spPr>
      </p:sp>
      <p:sp>
        <p:nvSpPr>
          <p:cNvPr id="22" name="Shape 20"/>
          <p:cNvSpPr/>
          <p:nvPr/>
        </p:nvSpPr>
        <p:spPr>
          <a:xfrm>
            <a:off x="932688" y="5843016"/>
            <a:ext cx="420624" cy="420624"/>
          </a:xfrm>
          <a:prstGeom prst="ellipse">
            <a:avLst/>
          </a:prstGeom>
          <a:solidFill>
            <a:srgbClr val="E9A13B"/>
          </a:solidFill>
          <a:ln/>
        </p:spPr>
      </p:sp>
      <p:sp>
        <p:nvSpPr>
          <p:cNvPr id="23" name="Text 21"/>
          <p:cNvSpPr/>
          <p:nvPr/>
        </p:nvSpPr>
        <p:spPr>
          <a:xfrm>
            <a:off x="932688" y="58430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⑪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481328" y="5724144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 operator: 1-shot on unseen material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00800" y="5724144"/>
            <a:ext cx="5257800" cy="658368"/>
          </a:xfrm>
          <a:prstGeom prst="roundRect">
            <a:avLst>
              <a:gd name="adj" fmla="val 11111"/>
            </a:avLst>
          </a:prstGeom>
          <a:solidFill>
            <a:srgbClr val="13355E"/>
          </a:solidFill>
          <a:ln/>
        </p:spPr>
      </p:sp>
      <p:sp>
        <p:nvSpPr>
          <p:cNvPr id="26" name="Shape 24"/>
          <p:cNvSpPr/>
          <p:nvPr/>
        </p:nvSpPr>
        <p:spPr>
          <a:xfrm>
            <a:off x="6510528" y="5843016"/>
            <a:ext cx="420624" cy="420624"/>
          </a:xfrm>
          <a:prstGeom prst="ellipse">
            <a:avLst/>
          </a:prstGeom>
          <a:solidFill>
            <a:srgbClr val="E9A13B"/>
          </a:solidFill>
          <a:ln/>
        </p:spPr>
      </p:sp>
      <p:sp>
        <p:nvSpPr>
          <p:cNvPr id="27" name="Text 25"/>
          <p:cNvSpPr/>
          <p:nvPr/>
        </p:nvSpPr>
        <p:spPr>
          <a:xfrm>
            <a:off x="6510528" y="58430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⑥⑦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059168" y="5724144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TSV thermo-mechanics → bridges to CFRP × GNN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— INDUSTRY CONTEXT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Operating models: imec vs 産総研/TIA vs LSTC/Rapidus</a:t>
            </a:r>
            <a:endParaRPr lang="en-US" sz="3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112471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246120"/>
                <a:gridCol w="3246120"/>
                <a:gridCol w="320040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項目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imec (BE)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産総研 / TIA (JP)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LSTC / Rapidus (JP)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モデル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IIAP：産業界の会費で回る中立ハブ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共用ライン＋コンソーシアム＋国プロ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束ね役 → 2nm 量産（imec/IBM 連携）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資金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会費主体・政府 ~15%（~€8–9 億/年）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国費（運営費交付金）主体・~1,000 億/年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国費（経産/NEDO）中心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参加・IP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出資に応じた階層アクセス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会員制／助成は事業者帰属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組合員・企業帰属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強み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中立・グローバル・意思決定が速い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計量標準・材料・中立インフラ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量産直結・海外連携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弱み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自国の産業化は間接的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分散・スピード・処遇で見劣り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新興・巨額の国費依存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5989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出典整理: research/SEMICON_NATIONAL_RD_ECOSYSTEM.md（数値は概算・要確認）。日本の座組は 基礎/材料(NIMS)→共用試作(AIST/TIA)→束ね(LSTC)→量産(Rapidus) のバケツリレー。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2026-07-25T14:42:39Z</dcterms:created>
  <dcterms:modified xsi:type="dcterms:W3CDTF">2026-07-25T14:42:39Z</dcterms:modified>
</cp:coreProperties>
</file>