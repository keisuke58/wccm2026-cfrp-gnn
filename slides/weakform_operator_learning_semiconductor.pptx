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46920" y="-685800"/>
            <a:ext cx="3200400" cy="32004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E9A1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WCCM–ECCOMAS 2026  ·  CONCEPT STUDY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FEM Operator Learning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Online Adaptation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device simulation (GAA / CFET / TSV)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as the authority on accuracy · networks &amp; continuation as accelerators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self-contained, seed-fixed concept demos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〈氏名・所属〉   ·   github: keisuke58/wccm2026-cfrp-gnn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Poisson solve is the TCAD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TCAD self-consistently couples Poisson ↔ drift-diffusion (Gummel / Newton).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innermost, most-repeated step is the Poisson (nonlinear Poisson) solve.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GAA/CFET meshes this is re-solved thousands of times per bias &amp; per design.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accelerate it with machine learning — without giving up FE accuracy.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920240"/>
            <a:ext cx="4297680" cy="868680"/>
          </a:xfrm>
          <a:prstGeom prst="roundRect">
            <a:avLst>
              <a:gd name="adj" fmla="val 8421"/>
            </a:avLst>
          </a:prstGeom>
          <a:solidFill>
            <a:srgbClr val="0E5A8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0" y="19202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 −∇·(ε∇φ) = ρ(φ)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0" y="3291840"/>
            <a:ext cx="4297680" cy="868680"/>
          </a:xfrm>
          <a:prstGeom prst="roundRect">
            <a:avLst>
              <a:gd name="adj" fmla="val 8421"/>
            </a:avLst>
          </a:prstGeom>
          <a:solidFill>
            <a:srgbClr val="1C9AA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32918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Drift-diffusion  (n, p currents)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201400" y="21031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2788920"/>
            <a:ext cx="914400" cy="914400"/>
          </a:xfrm>
          <a:prstGeom prst="line">
            <a:avLst/>
          </a:prstGeom>
          <a:noFill/>
          <a:ln w="25400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058400" y="3291840"/>
            <a:ext cx="914400" cy="914400"/>
          </a:xfrm>
          <a:prstGeom prst="line">
            <a:avLst/>
          </a:prstGeom>
          <a:noFill/>
          <a:ln w="25400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4389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self-consistent loop  (repeat to convergence)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FIELD 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 for device simulation — and the open 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792224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/ SPICE models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26280" y="173736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0" name="Shape 8"/>
          <p:cNvSpPr/>
          <p:nvPr/>
        </p:nvSpPr>
        <p:spPr>
          <a:xfrm>
            <a:off x="6382512" y="1792224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49440" y="1737360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grid-Poisson surrogates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195560" y="1737360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8716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542032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248716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coupled systems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26280" y="2487168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48716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382512" y="2542032"/>
            <a:ext cx="457200" cy="457200"/>
          </a:xfrm>
          <a:prstGeom prst="ellipse">
            <a:avLst/>
          </a:prstGeom>
          <a:solidFill>
            <a:srgbClr val="C0413B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49440" y="2487168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diffusion on meshes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195560" y="2487168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strong-form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23697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329184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80160" y="3236976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DeepONet / FNO operators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3236976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23697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30" name="Shape 28"/>
          <p:cNvSpPr/>
          <p:nvPr/>
        </p:nvSpPr>
        <p:spPr>
          <a:xfrm>
            <a:off x="6382512" y="329184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31" name="Text 29"/>
          <p:cNvSpPr/>
          <p:nvPr/>
        </p:nvSpPr>
        <p:spPr>
          <a:xfrm>
            <a:off x="6382512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49440" y="3236976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convergence acceleration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195560" y="3236976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39867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13232" y="4041648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36" name="Text 34"/>
          <p:cNvSpPr/>
          <p:nvPr/>
        </p:nvSpPr>
        <p:spPr>
          <a:xfrm>
            <a:off x="71323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280160" y="398678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transport (Otsuki &amp; Mori)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26280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+ FD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39867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6382512" y="4041648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41" name="Text 39"/>
          <p:cNvSpPr/>
          <p:nvPr/>
        </p:nvSpPr>
        <p:spPr>
          <a:xfrm>
            <a:off x="6382512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949440" y="3986784"/>
            <a:ext cx="3429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design / online learning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0195560" y="3986784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Surrogates ②–④ are overwhelmingly strong-form / grid-based → the weak-form (FEM) operator lane is open.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the weak form (FEM) at the core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form (finite differences / PINN) enforces the PDE pointwise — and </a:t>
            </a:r>
            <a:pPr indent="0" marL="0">
              <a:buNone/>
            </a:pPr>
            <a:r>
              <a:rPr lang="en-US" sz="1700" b="1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flux continuity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[ε ∂φ/∂n] = 0 at material interfaces (variable ε).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/ Galerkin form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interface flux-continuity into the assembled residual — naturally robust to variable ε and unstructured meshes.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4023360"/>
            <a:ext cx="5120640" cy="1554480"/>
          </a:xfrm>
          <a:prstGeom prst="roundRect">
            <a:avLst>
              <a:gd name="adj" fmla="val 5882"/>
            </a:avLst>
          </a:prstGeom>
          <a:solidFill>
            <a:srgbClr val="13355E"/>
          </a:solidFill>
          <a:ln w="12700">
            <a:solidFill>
              <a:srgbClr val="C041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form (pointwise)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= Δφ + ρ/ε   at nodes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074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flux continuity: not guaranteed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4023360"/>
            <a:ext cx="5212080" cy="1554480"/>
          </a:xfrm>
          <a:prstGeom prst="roundRect">
            <a:avLst>
              <a:gd name="adj" fmla="val 5882"/>
            </a:avLst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 (Galerkin FE)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4572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= K(ε)φ + κ·M·sinh(φ) − Mρ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flux continuity: built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components: A · D · B · 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777240" cy="77724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2024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loss / data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20240" y="26517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loss = assembled FE residual K(ε)φ−Mρ (Galerkin), not a pointwise Laplacian.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103120"/>
            <a:ext cx="777240" cy="77724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103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589520" y="20574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 a-posteriori error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residual estimator unifies mesh refinement and the online-learning trigger.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06240"/>
            <a:ext cx="777240" cy="77724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92024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learning branch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4754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/ DeepONet branch ingests mesh &amp; conditions (mesh-agnostic, repo-native).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309360" y="3886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/>
          <a:effectLst>
            <a:outerShdw sx="100000" sy="100000" kx="0" ky="0" algn="bl" rotWithShape="0" blurRad="63500" dist="25400" dir="5400000">
              <a:srgbClr val="AEBECC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206240"/>
            <a:ext cx="777240" cy="77724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9520" y="41605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= accelerator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4754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stays the accuracy authority; the net only warm-starts Newton / continuation.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Method-level, not application-level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Otsuki &amp; Mori (baseline)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Monte-Carlo transport for GAA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inside the MC loop replaced by a PI-DeepONet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Discretization core: strong-form finite differences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learning accelerates the MC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EEF3F8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2011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606040"/>
            <a:ext cx="4754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Weak-form (Galerkin FE) at the operator core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Interface-robust residual K(ε)φ−Mρ as the physics loss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a-posteriori estimator drives refinement + online trigger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keeps accuracy; net / continuation only accelerate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receptive frame ("ML accelerates TCAD"); the discretization core differs — demo ② quantifies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② — THE ONE-PANEL NOVELTY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form vs strong form (no NN involved)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bench_weak_vs_stro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bench_weak_vs_strong.py — FE vs FD, refinement + interface study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discretization test at a material interface (variable ε).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 converges at O(h²); strong form stalls at an interface-error floor.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quantitative backbone for "why weak form".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O(h²)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weak: 0.13 → 0.0093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4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~0.55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floor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① — OPERATOR LEARNING + ONLINE ADAPTATION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Weak-form PI-DeepONet with an FE error trigger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pi_deeponet_fem_ga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pi_deeponet_fem_gaa.py — rel-L2 0.074 at unchanged FE accuracy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GNN-branch DeepONet trained on the Galerkin residual (idea A+B).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a-posteriori estimator triggers an exact solve only when needed (idea D).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adaptation lowers the trigger rate as deployment proceeds.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60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exact solves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4" name="Text 11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57%→23%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rate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③ ④ ⑤ — IDEA C, NEWTON WARM-START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warm-start: 1D → 2D GAA → CFET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cfet_stack_warmst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cfet_stack_warmstart.py (n/p stack) — cf. fe_/dd2d_ warm-start demos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773936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2" name="Text 9"/>
          <p:cNvSpPr/>
          <p:nvPr/>
        </p:nvSpPr>
        <p:spPr>
          <a:xfrm>
            <a:off x="177393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initial guess seeds damped Newton; every solve stays exact FE.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nonlinear Poisson → 2D GAA slice → multi-material CFET cross-section.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 guarantees accuracy; the net only cuts iterations.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Newton iters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8" name="Text 15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4.8→3.0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CFET cold→warm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⑧ ⑨ — FULL DRIFT-DIFFUSION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Coupled DD: ideal diode &amp; continuation at high bias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dd_breakdown_continu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dd_breakdown_continuation.py — impact ionization kept mild (~×2.1)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pn junction, Scharfetter–Gummel + Gummel (⑧): ideal-diode I–V validated.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reverse bias (⑨): cold start diverges at 4 V_t; continuation reaches 45 V_t.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idea C is not "faster" — it decides convergence vs divergence.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V_t → 45 V_t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diverges → continues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J∝e^{V/Vt}−1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diode validated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⑥ ⑦ — TSV THERMO-MECHANICAL STRESS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3D-stack packaging: FE thermoelasticity + KOZ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tsv_3d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tsv_3d_stress.py — bridges to the repo's CFRP stress × GNN core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(⑥): CNN stress-field surrogate + keep-out-zone from FE thermoelasticity.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(⑦): real elastic constants — anisotropic Si (C11/C12/C44) vs isotropic Cu.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Anisotropy gives 4-fold (cloverleaf) stress → direction-dependent KOZ.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IoU 0.819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keep-out zone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analytic PASS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machine precision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⑩ ⑪ — REAL MULTI-MATERIAL TCAD WORKLOAD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sweep amortized, then made a learned operator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35040" y="1737360"/>
            <a:ext cx="557784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8">
                <a:alpha val="35000"/>
              </a:srgbClr>
            </a:outerShdw>
          </a:effectLst>
        </p:spPr>
      </p:sp>
      <p:pic>
        <p:nvPicPr>
          <p:cNvPr id="5" name="Image 0" descr="/home/user/wccm2026-cfrp-gnn/gaa_operator_deepon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44768" y="1847088"/>
            <a:ext cx="535838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806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gaa_operator_deeponet.py — normalization uses train materials only (no leak)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207008" y="1783080"/>
            <a:ext cx="457200" cy="45720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0" name="Text 7"/>
          <p:cNvSpPr/>
          <p:nvPr/>
        </p:nvSpPr>
        <p:spPr>
          <a:xfrm>
            <a:off x="12070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24231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Balaji+2026 (Sentaurus): Si/Ge/GeSn/InGaAs/MoS₂ × bias, cylindrical GAA.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continuation amortizes 45 self-consistent FE solves (217→161 Newton iters).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DeepONet: 1-shot on an unseen material, then warm-starts FE (A+B+C unified).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5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rel-L2 0.015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73152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unseen material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23260" y="4892040"/>
            <a:ext cx="235458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/>
        </p:spPr>
      </p:sp>
      <p:sp>
        <p:nvSpPr>
          <p:cNvPr id="16" name="Text 13"/>
          <p:cNvSpPr/>
          <p:nvPr/>
        </p:nvSpPr>
        <p:spPr>
          <a:xfrm>
            <a:off x="3314700" y="4965192"/>
            <a:ext cx="21717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5.2→2.8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14700" y="5495544"/>
            <a:ext cx="21717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warm-start iters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— and is not — demonstrated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are concept demos (CPU, minutes, seed-fixed).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①'s error indicator is the raw relative Galerkin residual; the tolerance is calibrated, not a solution-error bound.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 on robust monotone solves gives modest gains (~10–40%); the decisive case is ⑨ (converge vs diverge).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full DD (⑧⑨) is implemented; coupled 2D/3D semiconductor DD (Full Newton, needs variable scaling) is future work.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 unimplemented" refers to semiconductor DD only — 3D thermoelasticity (⑦) is implemented.</a:t>
            </a:r>
            <a:endParaRPr lang="en-US" sz="15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⑩⑪ screening κ is an illustrative non-dimensional scale (ordering &amp; trends are physical); ⑪'s disk is near radially symmetric.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axes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56816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78308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vertical-gate geometry + unstructured mesh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706624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532888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2D-CFET (2D-material channels)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456432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282696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avalanche (implicit G) &amp; 2D Full-Newton coupled DD (variable scaling)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206240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032504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operator on asymmetric doping (trunk expressiveness) + GNN branch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782312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956048"/>
            <a:ext cx="274320" cy="274320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4782312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η-driven h-refinement (AMR) with mesh-agnostic branch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532120"/>
            <a:ext cx="10881360" cy="621792"/>
          </a:xfrm>
          <a:prstGeom prst="roundRect">
            <a:avLst>
              <a:gd name="adj" fmla="val 8824"/>
            </a:avLst>
          </a:prstGeom>
          <a:solidFill>
            <a:srgbClr val="EEF3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705856"/>
            <a:ext cx="274320" cy="274320"/>
          </a:xfrm>
          <a:prstGeom prst="ellipse">
            <a:avLst/>
          </a:prstGeom>
          <a:solidFill>
            <a:srgbClr val="0E5A8A"/>
          </a:solidFill>
          <a:ln/>
        </p:spPr>
      </p:sp>
      <p:sp>
        <p:nvSpPr>
          <p:cNvPr id="21" name="Text 19"/>
          <p:cNvSpPr/>
          <p:nvPr/>
        </p:nvSpPr>
        <p:spPr>
          <a:xfrm>
            <a:off x="1280160" y="553212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stress-field surrogate; KOZ classification in the CFRP-defect GNN pipeline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rgbClr val="13355E"/>
          </a:solidFill>
          <a:ln w="12700">
            <a:solidFill>
              <a:srgbClr val="1C9A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form at the core makes the surrogate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interface-robust — FEM stays the authority,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&amp; continuation only accelerate.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4233672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81328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form: O(h²) vs strong-form floor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411480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4233672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4233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59168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learning + FE-triggered online adaptation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1947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4" name="Shape 12"/>
          <p:cNvSpPr/>
          <p:nvPr/>
        </p:nvSpPr>
        <p:spPr>
          <a:xfrm>
            <a:off x="932688" y="5038344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③–⑤,⑩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1328" y="491947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warm-start / continuation: ~40% fewer iters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491947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0528" y="5038344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059168" y="4919472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decides converge vs diverge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22960" y="572414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22" name="Shape 20"/>
          <p:cNvSpPr/>
          <p:nvPr/>
        </p:nvSpPr>
        <p:spPr>
          <a:xfrm>
            <a:off x="932688" y="5843016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5843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⑪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81328" y="57241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operator: 1-shot on unseen material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0" y="572414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13355E"/>
          </a:solidFill>
          <a:ln/>
        </p:spPr>
      </p:sp>
      <p:sp>
        <p:nvSpPr>
          <p:cNvPr id="26" name="Shape 24"/>
          <p:cNvSpPr/>
          <p:nvPr/>
        </p:nvSpPr>
        <p:spPr>
          <a:xfrm>
            <a:off x="6510528" y="5843016"/>
            <a:ext cx="420624" cy="420624"/>
          </a:xfrm>
          <a:prstGeom prst="ellipse">
            <a:avLst/>
          </a:prstGeom>
          <a:solidFill>
            <a:srgbClr val="E9A13B"/>
          </a:solidFill>
          <a:ln/>
        </p:spPr>
      </p:sp>
      <p:sp>
        <p:nvSpPr>
          <p:cNvPr id="27" name="Text 25"/>
          <p:cNvSpPr/>
          <p:nvPr/>
        </p:nvSpPr>
        <p:spPr>
          <a:xfrm>
            <a:off x="6510528" y="5843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⑥⑦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59168" y="57241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TSV thermo-mechanics → bridges to CFRP × GNN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2026-07-25T08:37:57Z</dcterms:created>
  <dcterms:modified xsi:type="dcterms:W3CDTF">2026-07-25T08:37:57Z</dcterms:modified>
</cp:coreProperties>
</file>