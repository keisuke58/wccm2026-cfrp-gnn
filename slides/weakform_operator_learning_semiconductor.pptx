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3355E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685800"/>
            <a:ext cx="3200400" cy="32004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WCCM–ECCOMAS 2026  ·  CONCEPT STUDY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Weak-form FEM Operator Learning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Online Adaptation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semiconductor device simulation (GAA / CFET / TSV)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as the authority on accuracy · networks &amp; continuation as accelerators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self-contained, seed-fixed concept demos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〈氏名・所属〉   ·   github: keisuke58/wccm2026-cfrp-gnn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Poisson solve is the TCAD bottleneck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TCAD self-consistently couples Poisson ↔ drift-diffusion (Gummel / Newton).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innermost, most-repeated step is the Poisson (nonlinear Poisson) solve.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GAA/CFET meshes this is re-solved thousands of times per bias &amp; per design.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accelerate it with machine learning — without giving up FE accuracy.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92024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0E5A8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920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 −∇·(ε∇φ) = ρ(φ)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329184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1C9AA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Drift-diffusion  (n, p currents)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01400" y="2103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2788920"/>
            <a:ext cx="914400" cy="914400"/>
          </a:xfrm>
          <a:prstGeom prst="line">
            <a:avLst/>
          </a:prstGeom>
          <a:noFill/>
          <a:ln w="2540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0" y="3291840"/>
            <a:ext cx="914400" cy="914400"/>
          </a:xfrm>
          <a:prstGeom prst="line">
            <a:avLst/>
          </a:prstGeom>
          <a:noFill/>
          <a:ln w="2540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0" y="4389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self-consistent loop  (repeat to convergence)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FIELD 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for device simulation — and the open lane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92224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/ SPICE models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26280" y="173736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1792224"/>
            <a:ext cx="457200" cy="457200"/>
          </a:xfrm>
          <a:prstGeom prst="ellipse">
            <a:avLst/>
          </a:prstGeom>
          <a:solidFill>
            <a:srgbClr val="C0413B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73736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grid-Poisson surrogates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195560" y="173736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strong-form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8716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542032"/>
            <a:ext cx="457200" cy="457200"/>
          </a:xfrm>
          <a:prstGeom prst="ellipse">
            <a:avLst/>
          </a:prstGeom>
          <a:solidFill>
            <a:srgbClr val="C041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48716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coupled systems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24871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strong-form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48716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2542032"/>
            <a:ext cx="457200" cy="457200"/>
          </a:xfrm>
          <a:prstGeom prst="ellipse">
            <a:avLst/>
          </a:prstGeom>
          <a:solidFill>
            <a:srgbClr val="C0413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248716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/ diffusion on meshes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195560" y="24871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strong-form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3697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329184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323697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DeepONet / FNO operators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3236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23697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329184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323697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convergence acceleration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195560" y="3236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8678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80160" y="398678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transport (Otsuki &amp; Mori)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26280" y="39867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+ FD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98678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40" name="Shape 38"/>
          <p:cNvSpPr/>
          <p:nvPr/>
        </p:nvSpPr>
        <p:spPr>
          <a:xfrm>
            <a:off x="6382512" y="4041648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49440" y="398678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design / online learning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195560" y="39867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Surrogates ②–④ are overwhelmingly strong-form / grid-based → the weak-form (FEM) operator lane is open.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weak form (FEM) at the 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form (finite differences / PINN) enforces the PDE pointwise — and </a:t>
            </a:r>
            <a:pPr indent="0" marL="0">
              <a:buNone/>
            </a:pPr>
            <a:r>
              <a:rPr lang="en-US" sz="17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flux continuity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[ε ∂φ/∂n] = 0 at material interfaces (variable ε).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Galerkin form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interface flux-continuity into the assembled residual — naturally robust to variable ε and unstructured meshes.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13355E"/>
          </a:solidFill>
          <a:ln w="12700">
            <a:solidFill>
              <a:srgbClr val="C04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form (pointwise)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Δφ + ρ/ε   at nodes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flux continuity: not guaranteed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402336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13355E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form (Galerkin FE)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K(ε)φ + κ·M·sinh(φ) − Mρ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flux continuity: built 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components: A · D · B · 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AEBE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2024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Weak-form loss /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6517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loss = assembled FE residual K(ε)φ−Mρ (Galerkin), not a pointwise Laplacian.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AEBE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03120"/>
            <a:ext cx="777240" cy="77724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58952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 a-posteriori error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9520" y="26517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residual estimator unifies mesh refinement and the online-learning trigger.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AEBE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06240"/>
            <a:ext cx="777240" cy="777240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learning branch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754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/ DeepONet branch ingests mesh &amp; conditions (mesh-agnostic, repo-native).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3886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63500" dist="25400" dir="5400000">
              <a:srgbClr val="AEBE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06240"/>
            <a:ext cx="777240" cy="77724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9520" y="4160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= accelerator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0" y="4754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stays the accuracy authority; the net only warm-starts Newton / continuation.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Method-level, not application-level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4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Otsuki &amp; Mori (baseline)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Monte-Carlo transport for GAA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inside the MC loop replaced by a PI-DeepONet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Discretization core: strong-form finite differences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accelerates the MC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EEF3F8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11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Weak-form (Galerkin FE) at the operator core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Interface-robust residual K(ε)φ−Mρ as the physics loss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a-posteriori estimator drives refinement + online trigger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keeps accuracy; net / continuation only accelerate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receptive frame ("ML accelerates TCAD"); the discretization core differs — demo ② quantifies it.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② — THE ONE-PANEL NOVELTY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form vs strong form (no NN involved)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35000"/>
              </a:srgbClr>
            </a:outerShdw>
          </a:effectLst>
        </p:spPr>
      </p:sp>
      <p:pic>
        <p:nvPicPr>
          <p:cNvPr id="5" name="Image 0" descr="/home/user/wccm2026-cfrp-gnn/bench_weak_vs_stro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44768" y="1847088"/>
            <a:ext cx="5358384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bench_weak_vs_strong.py — FE vs FD, refinement + interface study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discretization test at a material interface (variable ε).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form converges at O(h²); strong form stalls at an interface-error floor.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quantitative backbone for "why weak form".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O(h²)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0.13 → 0.0093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2326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4" name="Text 11"/>
          <p:cNvSpPr/>
          <p:nvPr/>
        </p:nvSpPr>
        <p:spPr>
          <a:xfrm>
            <a:off x="331470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4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~0.55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31470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floor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① — OPERATOR LEARNING + ONLINE ADAPTATION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Weak-form PI-DeepONet with an FE error trigger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35000"/>
              </a:srgbClr>
            </a:outerShdw>
          </a:effectLst>
        </p:spPr>
      </p:sp>
      <p:pic>
        <p:nvPicPr>
          <p:cNvPr id="5" name="Image 0" descr="/home/user/wccm2026-cfrp-gnn/pi_deeponet_fem_ga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44768" y="1847088"/>
            <a:ext cx="5358384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pi_deeponet_fem_gaa.py — rel-L2 0.074 at unchanged FE accuracy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GNN-branch DeepONet trained on the Galerkin residual (idea A+B).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a-posteriori estimator triggers an exact solve only when needed (idea D).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adaptation lowers the trigger rate as deployment proceeds.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60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exact solves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2326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4" name="Text 11"/>
          <p:cNvSpPr/>
          <p:nvPr/>
        </p:nvSpPr>
        <p:spPr>
          <a:xfrm>
            <a:off x="331470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57%→23%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31470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③ ④ ⑤ — IDEA C, NEWTON WARM-START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warm-start: 1D → 2D GAA → CFET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35000"/>
              </a:srgbClr>
            </a:outerShdw>
          </a:effectLst>
        </p:spPr>
      </p:sp>
      <p:pic>
        <p:nvPicPr>
          <p:cNvPr id="5" name="Image 0" descr="/home/user/wccm2026-cfrp-gnn/cfet_stack_warm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44768" y="1847088"/>
            <a:ext cx="5358384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cfet_stack_warmstart.py (n/p stack) — cf. fe_/dd2d_ warm-start demos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07008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0" name="Text 7"/>
          <p:cNvSpPr/>
          <p:nvPr/>
        </p:nvSpPr>
        <p:spPr>
          <a:xfrm>
            <a:off x="12070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773936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2" name="Text 9"/>
          <p:cNvSpPr/>
          <p:nvPr/>
        </p:nvSpPr>
        <p:spPr>
          <a:xfrm>
            <a:off x="177393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24231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initial guess seeds damped Newton; every solve stays exact FE.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nonlinear Poisson → 2D GAA slice → multi-material CFET cross-section.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guarantees accuracy; the net only cuts iterations.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3152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Newton iters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2326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8" name="Text 15"/>
          <p:cNvSpPr/>
          <p:nvPr/>
        </p:nvSpPr>
        <p:spPr>
          <a:xfrm>
            <a:off x="331470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4.8→3.0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331470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CFET cold→warm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⑧ ⑨ — FULL DRIFT-DIFFUSION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Coupled DD: ideal diode &amp; continuation at high bias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35000"/>
              </a:srgbClr>
            </a:outerShdw>
          </a:effectLst>
        </p:spPr>
      </p:sp>
      <p:pic>
        <p:nvPicPr>
          <p:cNvPr id="5" name="Image 0" descr="/home/user/wccm2026-cfrp-gnn/dd_breakdown_continu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44768" y="1847088"/>
            <a:ext cx="5358384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dd_breakdown_continuation.py — impact ionization kept mild (~×2.1)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07008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0" name="Text 7"/>
          <p:cNvSpPr/>
          <p:nvPr/>
        </p:nvSpPr>
        <p:spPr>
          <a:xfrm>
            <a:off x="12070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pn junction, Scharfetter–Gummel + Gummel (⑧): ideal-diode I–V validated.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reverse bias (⑨): cold start diverges at 4 V_t; continuation reaches 45 V_t.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idea C is not "faster" — it decides convergence vs divergence.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V_t → 45 V_t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diverges → continues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326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6" name="Text 13"/>
          <p:cNvSpPr/>
          <p:nvPr/>
        </p:nvSpPr>
        <p:spPr>
          <a:xfrm>
            <a:off x="331470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J∝e^{V/Vt}−1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1470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 validated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⑥ ⑦ — TSV THERMO-MECHANICAL STRESS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3D-stack packaging: FE thermoelasticity + KOZ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35000"/>
              </a:srgbClr>
            </a:outerShdw>
          </a:effectLst>
        </p:spPr>
      </p:sp>
      <p:pic>
        <p:nvPicPr>
          <p:cNvPr id="5" name="Image 0" descr="/home/user/wccm2026-cfrp-gnn/tsv_3d_st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44768" y="1847088"/>
            <a:ext cx="5358384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tsv_3d_stress.py — bridges to the repo's CFRP stress × GNN core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07008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0" name="Text 7"/>
          <p:cNvSpPr/>
          <p:nvPr/>
        </p:nvSpPr>
        <p:spPr>
          <a:xfrm>
            <a:off x="12070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(⑥): CNN stress-field surrogate + keep-out-zone from FE thermoelasticity.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(⑦): real elastic constants — anisotropic Si (C11/C12/C44) vs isotropic Cu.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Anisotropy gives 4-fold (cloverleaf) stress → direction-dependent KOZ.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0.819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keep-out zone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326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6" name="Text 13"/>
          <p:cNvSpPr/>
          <p:nvPr/>
        </p:nvSpPr>
        <p:spPr>
          <a:xfrm>
            <a:off x="331470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analytic PASS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1470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machine precision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⑩ ⑪ — REAL MULTI-MATERIAL TCAD WORKLOAD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sweep amortized, then made a learned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35000"/>
              </a:srgbClr>
            </a:outerShdw>
          </a:effectLst>
        </p:spPr>
      </p:sp>
      <p:pic>
        <p:nvPicPr>
          <p:cNvPr id="5" name="Image 0" descr="/home/user/wccm2026-cfrp-gnn/gaa_operator_deepon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44768" y="1847088"/>
            <a:ext cx="5358384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gaa_operator_deeponet.py — normalization uses train materials only (no leak)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07008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0" name="Text 7"/>
          <p:cNvSpPr/>
          <p:nvPr/>
        </p:nvSpPr>
        <p:spPr>
          <a:xfrm>
            <a:off x="12070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Balaji+2026 (Sentaurus): Si/Ge/GeSn/InGaAs/MoS₂ × bias, cylindrical GAA.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continuation amortizes 45 self-consistent FE solves (217→161 Newton iters).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DeepONet: 1-shot on an unseen material, then warm-starts FE (A+B+C unified).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rel-L2 0.015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unseen material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326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6" name="Text 13"/>
          <p:cNvSpPr/>
          <p:nvPr/>
        </p:nvSpPr>
        <p:spPr>
          <a:xfrm>
            <a:off x="331470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5.2→2.8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1470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warm-start iters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⑫ — WFM TUNES THE THRESHOLD VOLTAGE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Work-function metal → Vth on the GAA cross-section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35000"/>
              </a:srgbClr>
            </a:outerShdw>
          </a:effectLst>
        </p:spPr>
      </p:sp>
      <p:pic>
        <p:nvPicPr>
          <p:cNvPr id="5" name="Image 0" descr="/home/user/wccm2026-cfrp-gnn/gaa_wfm_v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44768" y="1847088"/>
            <a:ext cx="5358384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gaa_wfm_vth.py — ideal flat-band model (no traps/poly-depletion), illustrative scale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pilot-line WFM step (Applied Endura-3 class) to a computed threshold.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WFM (Φ_m 4.2–5.0 eV): FE Q–V_g solves on the disk → extract Vth per metal.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the ideal flat-band law ΔVth = ΔΦ_WFM on the real cross-section.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 V/eV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ΔVth / ΔΦ_WFM (slope)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23260" y="4892040"/>
            <a:ext cx="23545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/>
        </p:spPr>
      </p:sp>
      <p:sp>
        <p:nvSpPr>
          <p:cNvPr id="14" name="Text 11"/>
          <p:cNvSpPr/>
          <p:nvPr/>
        </p:nvSpPr>
        <p:spPr>
          <a:xfrm>
            <a:off x="3314700" y="4965192"/>
            <a:ext cx="21717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0.04→0.84 V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314700" y="5495544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Vth design window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FAB TO SIMULATION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Pilot-line process ↔ what we simulate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 advanced-semiconductor pilot line (GAA nanosheet)   →   this work's demos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EF3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nanosheet channel — SiGe release (Certas)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49240" y="2267712"/>
            <a:ext cx="914400" cy="914400"/>
          </a:xfrm>
          <a:prstGeom prst="line">
            <a:avLst/>
          </a:prstGeom>
          <a:noFill/>
          <a:ln w="31750">
            <a:solidFill>
              <a:srgbClr val="1C9A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60720" y="187452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7F0F7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874520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 nonlinear Poisson  ①③④⑩⑪⑫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EF3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8892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High-k + WFM gate (Eagle-XP4 / Endura-3)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3182112"/>
            <a:ext cx="914400" cy="914400"/>
          </a:xfrm>
          <a:prstGeom prst="line">
            <a:avLst/>
          </a:prstGeom>
          <a:noFill/>
          <a:ln w="31750">
            <a:solidFill>
              <a:srgbClr val="1C9A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278892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7F0F7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788920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variable-ε interface · WFM→Vth  ②⑫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E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0332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 → Ge / GeSn channels (EpiPrime)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49240" y="4096512"/>
            <a:ext cx="914400" cy="914400"/>
          </a:xfrm>
          <a:prstGeom prst="line">
            <a:avLst/>
          </a:prstGeom>
          <a:noFill/>
          <a:ln w="31750">
            <a:solidFill>
              <a:srgbClr val="1C9A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60720" y="370332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7F0F7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703320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sweep  ⑩⑪ (Balaji+2026)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EF3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1772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CFET / 3D stack / TSV (next node)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5010912"/>
            <a:ext cx="914400" cy="914400"/>
          </a:xfrm>
          <a:prstGeom prst="line">
            <a:avLst/>
          </a:prstGeom>
          <a:noFill/>
          <a:ln w="31750">
            <a:solidFill>
              <a:srgbClr val="1C9A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60720" y="461772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7F0F7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4617720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CFET slice ⑤ · TSV thermo-mech ⑥⑦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EF3F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53212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× bias TCAD sweep (Sentaurus)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49240" y="5925312"/>
            <a:ext cx="914400" cy="914400"/>
          </a:xfrm>
          <a:prstGeom prst="line">
            <a:avLst/>
          </a:prstGeom>
          <a:noFill/>
          <a:ln w="31750">
            <a:solidFill>
              <a:srgbClr val="1C9A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5532120"/>
            <a:ext cx="5120640" cy="786384"/>
          </a:xfrm>
          <a:prstGeom prst="roundRect">
            <a:avLst>
              <a:gd name="adj" fmla="val 8140"/>
            </a:avLst>
          </a:prstGeom>
          <a:solidFill>
            <a:srgbClr val="E7F0F7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5532120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⑩ · learned operator ⑪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— and is not — demonstrated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are concept demos (CPU, minutes, seed-fixed).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①'s error indicator is the raw relative Galerkin residual; the tolerance is calibrated, not a solution-error bound.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on robust monotone solves gives modest gains (~10–40%); the decisive case is ⑨ (converge vs diverge).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full DD (⑧⑨) is implemented; coupled 2D/3D semiconductor DD (Full Newton, needs variable scaling) is future work.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"3D unimplemented" refers to semiconductor DD only — 3D thermoelasticity (⑦) is implemented.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⑩⑪ screening κ is an illustrative non-dimensional scale (ordering &amp; trends are physical); ⑪'s disk is near radially symmetric.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axes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56816"/>
            <a:ext cx="274320" cy="27432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8308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vertical-gate geometry + unstructured mesh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706624"/>
            <a:ext cx="274320" cy="274320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53288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2D-CFET (2D-material channels)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456432"/>
            <a:ext cx="274320" cy="27432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282696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avalanche (implicit G) &amp; 2D Full-Newton coupled DD (variable scaling)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06240"/>
            <a:ext cx="274320" cy="274320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032504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operator on asymmetric doping (trunk expressiveness) + GNN branch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782312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956048"/>
            <a:ext cx="274320" cy="27432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782312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η-driven h-refinement (AMR) with mesh-agnostic branch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EEF3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705856"/>
            <a:ext cx="274320" cy="274320"/>
          </a:xfrm>
          <a:prstGeom prst="ellipse">
            <a:avLst/>
          </a:prstGeom>
          <a:solidFill>
            <a:srgbClr val="0E5A8A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553212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stress-field surrogate; KOZ classification in the CFRP-defect GNN pipeline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13355E"/>
          </a:solidFill>
          <a:ln w="12700">
            <a:solidFill>
              <a:srgbClr val="1C9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form at the core makes the surrogate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interface-robust — FEM stays the authority,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&amp; continuation only accelerate.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13355E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4233672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81328" y="4114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form: O(h²) vs strong-form floor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411480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13355E"/>
          </a:solidFill>
          <a:ln/>
        </p:spPr>
      </p:sp>
      <p:sp>
        <p:nvSpPr>
          <p:cNvPr id="10" name="Shape 8"/>
          <p:cNvSpPr/>
          <p:nvPr/>
        </p:nvSpPr>
        <p:spPr>
          <a:xfrm>
            <a:off x="6510528" y="4233672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9168" y="4114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learning + FE-triggered online adaptation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19472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133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" y="5038344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5038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③–⑤,⑩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491947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/ continuation: ~40% fewer iters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4919472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1335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0528" y="5038344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5038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59168" y="491947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decides converge vs diverge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724144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133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" y="5843016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5843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⑪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81328" y="572414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operator: 1-shot on unseen material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5724144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13355E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0528" y="5843016"/>
            <a:ext cx="420624" cy="42062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5843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59168" y="572414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thermo-mechanics → bridges to CFRP × GNN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2026-07-25T14:18:33Z</dcterms:created>
  <dcterms:modified xsi:type="dcterms:W3CDTF">2026-07-25T14:18:33Z</dcterms:modified>
</cp:coreProperties>
</file>